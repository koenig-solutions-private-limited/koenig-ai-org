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Tools, Resources, Prompts — the three primitives and the decision rule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MCP defines exactly three primitive types — Tools, Resources, and Prompts — each with a distinct initiation model, side-effect posture, and wire protocol.</a:t>
            </a:r>
          </a:p>
          <a:p>
            <a:pPr>
              <a:defRPr sz="2000"/>
            </a:pPr>
            <a:r>
              <a:t>**Tools** are model-initiated operations that may have side effects; declared via tools/list and invoked via tools/call, with an inputSchema (JSON Schema) describing argu</a:t>
            </a:r>
          </a:p>
          <a:p>
            <a:pPr>
              <a:defRPr sz="2000"/>
            </a:pPr>
            <a:r>
              <a:t>**Resources** are read-only data objects identified by URIs or RFC 6570 URI templates; listed via resources/list and fetched via resources/read; can support live subscrip</a:t>
            </a:r>
          </a:p>
          <a:p>
            <a:pPr>
              <a:defRPr sz="2000"/>
            </a:pPr>
            <a:r>
              <a:t>**Prompts** are user-selected reusable message templates with named arguments; listed via prompts/list and rendered to a message sequence via prompts/get.</a:t>
            </a:r>
          </a:p>
          <a:p>
            <a:pPr>
              <a:defRPr sz="2000"/>
            </a:pPr>
            <a:r>
              <a:t>The "who initiates / who controls / what mutates" decision rule provides a three-question test that correctly classifies any integration requirement into one of the three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mistake almost every developer makes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Ask a developer to build an MCP server for their internal knowledge base.</a:t>
            </a:r>
          </a:p>
          <a:p>
            <a:pPr>
              <a:defRPr sz="2000"/>
            </a:pPr>
            <a:r>
              <a:t>The knowledge base is read-only data the model should be able to *access*, not a query the model should *execute*.</a:t>
            </a:r>
          </a:p>
          <a:p>
            <a:pPr>
              <a:defRPr sz="2000"/>
            </a:pPr>
            <a:r>
              <a:t>Understanding the three primitives at the level of their *design intent* — not just their API shape — is the difference between an MCP server that works and one that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— what the model executes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**One-sentence definition**: A Tool is an operation the *model* initiates that may have side effects and returns a result.</a:t>
            </a:r>
          </a:p>
          <a:p>
            <a:pPr>
              <a:defRPr sz="2000"/>
            </a:pPr>
            <a:r>
              <a:t>The keyword is *may have side effects*.</a:t>
            </a:r>
          </a:p>
          <a:p>
            <a:pPr>
              <a:defRPr sz="2000"/>
            </a:pPr>
            <a:r>
              <a:t>Tools are declared via tools/list and invoked via tools/call.</a:t>
            </a:r>
          </a:p>
          <a:p>
            <a:pPr>
              <a:defRPr sz="2000"/>
            </a:pPr>
            <a:r>
              <a:t>A well-designed inputSchema is worth spending time on.</a:t>
            </a:r>
          </a:p>
          <a:p>
            <a:pPr>
              <a:defRPr sz="2000"/>
            </a:pPr>
            <a:r>
              <a:t>system="You are an expert MCP server designer reviewing tool definitions for quality and correctness."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— what the model 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**One-sentence definition**: A Resource is read-only data identified by a URI that either the model or the application can inject into context.</a:t>
            </a:r>
          </a:p>
          <a:p>
            <a:pPr>
              <a:defRPr sz="2000"/>
            </a:pPr>
            <a:r>
              <a:t>The "either the model or the application" part is why Resources exist as a separate primitive.</a:t>
            </a:r>
          </a:p>
          <a:p>
            <a:pPr>
              <a:defRPr sz="2000"/>
            </a:pPr>
            <a:r>
              <a:t>Resources are listed via resources/list and read via resources/read. Each resource has a URI and a MIME type:</a:t>
            </a:r>
          </a:p>
          <a:p>
            <a:pPr>
              <a:defRPr sz="2000"/>
            </a:pPr>
            <a:r>
              <a:t>The content can be text (for text/markdown, text/plain, application/json) or blob (base64-encoded binary, for images, PDFs, etc.).</a:t>
            </a:r>
          </a:p>
          <a:p>
            <a:pPr>
              <a:defRPr sz="2000"/>
            </a:pPr>
            <a:r>
              <a:t>Static URIs are fine for a fixed set of resources.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Prompts — what the user selects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**One-sentence definition**: A Prompt is a user-initiated, parameterised message template that the host exposes as a selectable option in its UI.</a:t>
            </a:r>
          </a:p>
          <a:p>
            <a:pPr>
              <a:defRPr sz="2000"/>
            </a:pPr>
            <a:r>
              <a:t>This is the least-understood primitive.</a:t>
            </a:r>
          </a:p>
          <a:p>
            <a:pPr>
              <a:defRPr sz="2000"/>
            </a:pPr>
            <a:r>
              <a:t>The key distinction: **Tools are model-initiated; Prompts are user-initiated.** The user looks at a menu of available Prompts in their host application, selects one (like</a:t>
            </a:r>
          </a:p>
          <a:p>
            <a:pPr>
              <a:defRPr sz="2000"/>
            </a:pPr>
            <a:r>
              <a:t>Prompts are listed via prompts/list and fetched via prompts/get:</a:t>
            </a:r>
          </a:p>
          <a:p>
            <a:pPr>
              <a:defRPr sz="2000"/>
            </a:pPr>
            <a:r>
              <a:t>When the user selects this prompt and provides arguments, the host sends prompts/get: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decision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Every integration requirement can be classified with three questions:</a:t>
            </a:r>
          </a:p>
          <a:p>
            <a:pPr>
              <a:defRPr sz="2000"/>
            </a:pPr>
            <a:r>
              <a:t>Model decides autonomously → **Tool**</a:t>
            </a:r>
          </a:p>
          <a:p>
            <a:pPr>
              <a:defRPr sz="2000"/>
            </a:pPr>
            <a:r>
              <a:t>User selects from a menu → **Prompt**</a:t>
            </a:r>
          </a:p>
          <a:p>
            <a:pPr>
              <a:defRPr sz="2000"/>
            </a:pPr>
            <a:r>
              <a:t>App pre-loads into context (or model requests by URI) → **Resource**</a:t>
            </a:r>
          </a:p>
          <a:p>
            <a:pPr>
              <a:defRPr sz="2000"/>
            </a:pPr>
            <a:r>
              <a:t>May write, create, delete, or trigger side effects → **Tool** (not Resource, never Prompt)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Hands-on exercise: classify and implement a GitHub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Given this GitHub integration requirements list, classify each as Tool, Resource, or Prompt with one sentence of justification:</a:t>
            </a:r>
          </a:p>
          <a:p>
            <a:pPr>
              <a:defRPr sz="2000"/>
            </a:pPr>
            <a:r>
              <a:t>List all open pull requests for a repository</a:t>
            </a:r>
          </a:p>
          <a:p>
            <a:pPr>
              <a:defRPr sz="2000"/>
            </a:pPr>
            <a:r>
              <a:t>Read the content of any file at any commit SHA</a:t>
            </a:r>
          </a:p>
          <a:p>
            <a:pPr>
              <a:defRPr sz="2000"/>
            </a:pPr>
            <a:r>
              <a:t>Create a new pull request</a:t>
            </a:r>
          </a:p>
          <a:p>
            <a:pPr>
              <a:defRPr sz="2000"/>
            </a:pPr>
            <a:r>
              <a:t>Get the authenticated user's GitHub profile (read-only, stable per session)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 [[04-oauth-and-auth|Chapter 4]], we address the question that security teams ask immediately: "Who is allowed to call these tools?" You've built a server that responds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 cited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JSON Schema Specification — The schema format used for inputSchema in tool definitions.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Try it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Pick one real API feature and classify it as Tool, Resource, or Prompt.</a:t>
            </a:r>
          </a:p>
          <a:p>
            <a:pPr>
              <a:defRPr sz="2200"/>
            </a:pPr>
            <a:r>
              <a:t>Justify the choice with: who initiates, who controls, what mutates.</a:t>
            </a:r>
          </a:p>
          <a:p>
            <a:pPr>
              <a:defRPr sz="2200"/>
            </a:pPr>
            <a:r>
              <a:t>Draft one URI template and one inputSchema before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