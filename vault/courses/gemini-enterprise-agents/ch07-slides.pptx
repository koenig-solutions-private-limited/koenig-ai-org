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59436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/>
            <a:r>
              <a:rPr sz="3100" b="1">
                <a:solidFill>
                  <a:srgbClr val="FFFFFF"/>
                </a:solidFill>
              </a:rPr>
              <a:t>Scale and Cost: Throughput, Quotas, Autoscaling, and Cost Attribution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828800"/>
            <a:ext cx="9875520" cy="86868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/>
            <a:r>
              <a:rPr sz="2400" b="0">
                <a:solidFill>
                  <a:srgbClr val="A1A1AA"/>
                </a:solidFill>
              </a:rPr>
              <a:t>Throughput, Quotas, Autoscaling, and Cost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907792"/>
            <a:ext cx="9875520" cy="41148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Chapter 7 · Gemini Enterprise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3794760"/>
            <a:ext cx="9326880" cy="86868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The five levers that keep production agent economics defensible: throughput commitments, endpoint choice, batch work, quota guardrails, and chargeback labels.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44768"/>
            <a:ext cx="10332720" cy="29260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/>
            <a:r>
              <a:rPr sz="11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35640" cy="6858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What you will be able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44168"/>
            <a:ext cx="1083564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783080"/>
            <a:ext cx="118872" cy="11887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664208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Choose Provisioned Throughput or on-demand pricing from a measured workload, not a guess.</a:t>
            </a:r>
          </a:p>
        </p:txBody>
      </p:sp>
      <p:sp>
        <p:nvSpPr>
          <p:cNvPr id="6" name="Oval 5"/>
          <p:cNvSpPr/>
          <p:nvPr/>
        </p:nvSpPr>
        <p:spPr>
          <a:xfrm>
            <a:off x="768096" y="2532888"/>
            <a:ext cx="118872" cy="11887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14016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Pick regional or global Vertex AI endpoints based on latency, failover, and residency constraints.</a:t>
            </a:r>
          </a:p>
        </p:txBody>
      </p:sp>
      <p:sp>
        <p:nvSpPr>
          <p:cNvPr id="8" name="Oval 7"/>
          <p:cNvSpPr/>
          <p:nvPr/>
        </p:nvSpPr>
        <p:spPr>
          <a:xfrm>
            <a:off x="768096" y="3282696"/>
            <a:ext cx="118872" cy="11887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63824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Use batch prediction for offline sub-tasks that can trade latency for a 50% token discount.</a:t>
            </a:r>
          </a:p>
        </p:txBody>
      </p:sp>
      <p:sp>
        <p:nvSpPr>
          <p:cNvPr id="10" name="Oval 9"/>
          <p:cNvSpPr/>
          <p:nvPr/>
        </p:nvSpPr>
        <p:spPr>
          <a:xfrm>
            <a:off x="768096" y="4032504"/>
            <a:ext cx="118872" cy="11887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13632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Configure project, agent, and tenant limits to stop runaway loops before they become spend incidents.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" y="4782312"/>
            <a:ext cx="118872" cy="11887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63440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Build per-team cost attribution with deployment labels, billing export, metrics, and audit logs.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5669280" cy="25603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9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6327648"/>
            <a:ext cx="5577840" cy="25603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/>
            <a:r>
              <a:rPr sz="900" b="0">
                <a:solidFill>
                  <a:srgbClr val="A1A1AA"/>
                </a:solidFill>
              </a:rPr>
              <a:t>Gemini Enterprise Agents · Chapter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35640" cy="6858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The unit economics that actually matter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44168"/>
            <a:ext cx="1083564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783080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664208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Track cost-per-invocation, cost-per-resolved-task, and cost-per-active-user-month together.</a:t>
            </a:r>
          </a:p>
        </p:txBody>
      </p:sp>
      <p:sp>
        <p:nvSpPr>
          <p:cNvPr id="6" name="Oval 5"/>
          <p:cNvSpPr/>
          <p:nvPr/>
        </p:nvSpPr>
        <p:spPr>
          <a:xfrm>
            <a:off x="768096" y="2532888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14016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Cost-per-resolved-task catches retries, handoffs, abandoned conversations, and useful outcomes.</a:t>
            </a:r>
          </a:p>
        </p:txBody>
      </p:sp>
      <p:sp>
        <p:nvSpPr>
          <p:cNvPr id="8" name="Oval 7"/>
          <p:cNvSpPr/>
          <p:nvPr/>
        </p:nvSpPr>
        <p:spPr>
          <a:xfrm>
            <a:off x="768096" y="3282696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63824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A Koenig invoice pipeline measured $0.038 per invoice with Pro orchestration plus Flash sub-agents.</a:t>
            </a:r>
          </a:p>
        </p:txBody>
      </p:sp>
      <p:sp>
        <p:nvSpPr>
          <p:cNvPr id="10" name="Oval 9"/>
          <p:cNvSpPr/>
          <p:nvPr/>
        </p:nvSpPr>
        <p:spPr>
          <a:xfrm>
            <a:off x="768096" y="4032504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13632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The same workload with Pro everywhere measured $0.110 per invoice, a 2.9x cost increase.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" y="4782312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63440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Model selection is the largest lever, but only after the call graph is honest.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5669280" cy="25603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9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6327648"/>
            <a:ext cx="5577840" cy="25603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/>
            <a:r>
              <a:rPr sz="900" b="0">
                <a:solidFill>
                  <a:srgbClr val="A1A1AA"/>
                </a:solidFill>
              </a:rPr>
              <a:t>Gemini Enterprise Agents · Chapter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35640" cy="6858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Lever 1: Provisioned Throughput vs on-demand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44168"/>
            <a:ext cx="1083564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783080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664208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Provisioned Throughput buys committed generation capacity in 100 token-per-second units.</a:t>
            </a:r>
          </a:p>
        </p:txBody>
      </p:sp>
      <p:sp>
        <p:nvSpPr>
          <p:cNvPr id="6" name="Oval 5"/>
          <p:cNvSpPr/>
          <p:nvPr/>
        </p:nvSpPr>
        <p:spPr>
          <a:xfrm>
            <a:off x="768096" y="2532888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14016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On-demand usually wins for low or spiky workloads because idle committed capacity is still paid for.</a:t>
            </a:r>
          </a:p>
        </p:txBody>
      </p:sp>
      <p:sp>
        <p:nvSpPr>
          <p:cNvPr id="8" name="Oval 7"/>
          <p:cNvSpPr/>
          <p:nvPr/>
        </p:nvSpPr>
        <p:spPr>
          <a:xfrm>
            <a:off x="768096" y="3282696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63824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PT becomes interesting for continuous workloads with strict p99 latency or fixed-budget procurement needs.</a:t>
            </a:r>
          </a:p>
        </p:txBody>
      </p:sp>
      <p:sp>
        <p:nvSpPr>
          <p:cNvPr id="10" name="Oval 9"/>
          <p:cNvSpPr/>
          <p:nvPr/>
        </p:nvSpPr>
        <p:spPr>
          <a:xfrm>
            <a:off x="768096" y="4032504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13632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In the chapter example, 25 output tokens/second costs about $518/month on-demand versus roughly $35K/month for one PT unit.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" y="4782312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63440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The decision depends on steady-state qps, spike shape, latency floor, and cost-predictability requirements.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5669280" cy="25603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9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6327648"/>
            <a:ext cx="5577840" cy="25603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/>
            <a:r>
              <a:rPr sz="900" b="0">
                <a:solidFill>
                  <a:srgbClr val="A1A1AA"/>
                </a:solidFill>
              </a:rPr>
              <a:t>Gemini Enterprise Agents · Chapter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35640" cy="6858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Levers 2-3: Endpoint choice and batch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44168"/>
            <a:ext cx="1083564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783080"/>
            <a:ext cx="118872" cy="11887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664208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Global endpoints route to nearby healthy capacity and optimize for resilience and pooled throughput.</a:t>
            </a:r>
          </a:p>
        </p:txBody>
      </p:sp>
      <p:sp>
        <p:nvSpPr>
          <p:cNvPr id="6" name="Oval 5"/>
          <p:cNvSpPr/>
          <p:nvPr/>
        </p:nvSpPr>
        <p:spPr>
          <a:xfrm>
            <a:off x="768096" y="2532888"/>
            <a:ext cx="118872" cy="11887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14016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Regional endpoints pin inference to a region for residency, auditability, and co-located latency.</a:t>
            </a:r>
          </a:p>
        </p:txBody>
      </p:sp>
      <p:sp>
        <p:nvSpPr>
          <p:cNvPr id="8" name="Oval 7"/>
          <p:cNvSpPr/>
          <p:nvPr/>
        </p:nvSpPr>
        <p:spPr>
          <a:xfrm>
            <a:off x="768096" y="3282696"/>
            <a:ext cx="118872" cy="11887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63824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If the agent is regional but the Vertex endpoint is global, inference traffic can leave the intended boundary.</a:t>
            </a:r>
          </a:p>
        </p:txBody>
      </p:sp>
      <p:sp>
        <p:nvSpPr>
          <p:cNvPr id="10" name="Oval 9"/>
          <p:cNvSpPr/>
          <p:nvPr/>
        </p:nvSpPr>
        <p:spPr>
          <a:xfrm>
            <a:off x="768096" y="4032504"/>
            <a:ext cx="118872" cy="11887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13632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Batch prediction is right for document classification, bulk evaluations, and overnight enrichment jobs.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" y="4782312"/>
            <a:ext cx="118872" cy="11887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63440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Split the user-facing critical path from async enrichments so only latency-sensitive work pays real-time prices.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5669280" cy="25603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9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6327648"/>
            <a:ext cx="5577840" cy="25603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/>
            <a:r>
              <a:rPr sz="900" b="0">
                <a:solidFill>
                  <a:srgbClr val="A1A1AA"/>
                </a:solidFill>
              </a:rPr>
              <a:t>Gemini Enterprise Agents · Chapter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35640" cy="6858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Lever 4: Quotas, rate limits, and loop protection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44168"/>
            <a:ext cx="1083564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783080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664208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Project-level quotas protect total GCP project throughput and require capacity plans for increases.</a:t>
            </a:r>
          </a:p>
        </p:txBody>
      </p:sp>
      <p:sp>
        <p:nvSpPr>
          <p:cNvPr id="6" name="Oval 5"/>
          <p:cNvSpPr/>
          <p:nvPr/>
        </p:nvSpPr>
        <p:spPr>
          <a:xfrm>
            <a:off x="768096" y="2532888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14016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Agent-level rate limits keep one misbehaving agent from consuming all available capacity.</a:t>
            </a:r>
          </a:p>
        </p:txBody>
      </p:sp>
      <p:sp>
        <p:nvSpPr>
          <p:cNvPr id="8" name="Oval 7"/>
          <p:cNvSpPr/>
          <p:nvPr/>
        </p:nvSpPr>
        <p:spPr>
          <a:xfrm>
            <a:off x="768096" y="3282696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63824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Per-tenant limits prevent one customer or end user from starving everyone else in a multi-tenant system.</a:t>
            </a:r>
          </a:p>
        </p:txBody>
      </p:sp>
      <p:sp>
        <p:nvSpPr>
          <p:cNvPr id="10" name="Oval 9"/>
          <p:cNvSpPr/>
          <p:nvPr/>
        </p:nvSpPr>
        <p:spPr>
          <a:xfrm>
            <a:off x="768096" y="4032504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13632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Set concurrent invocation and handoff-depth limits before launch; they are free controls against recursive loops.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" y="4782312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63440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The chapter incident: a 14-minute sub-agent recursion loop produced $1,847 of unintended Gemini Pro spend.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5669280" cy="25603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9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6327648"/>
            <a:ext cx="5577840" cy="25603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/>
            <a:r>
              <a:rPr sz="900" b="0">
                <a:solidFill>
                  <a:srgbClr val="A1A1AA"/>
                </a:solidFill>
              </a:rPr>
              <a:t>Gemini Enterprise Agents · Chapter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35640" cy="6858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Levers 5-6: Autoscaling and cost attribution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44168"/>
            <a:ext cx="1083564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783080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664208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Agent Runtime can scale from zero, but fully cold starts add roughly 5-9 seconds to first-request latency.</a:t>
            </a:r>
          </a:p>
        </p:txBody>
      </p:sp>
      <p:sp>
        <p:nvSpPr>
          <p:cNvPr id="6" name="Oval 5"/>
          <p:cNvSpPr/>
          <p:nvPr/>
        </p:nvSpPr>
        <p:spPr>
          <a:xfrm>
            <a:off x="768096" y="2532888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14016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Use min_replicas for latency-sensitive, 24/7 agents; use scale-to-zero for quiet internal tools.</a:t>
            </a:r>
          </a:p>
        </p:txBody>
      </p:sp>
      <p:sp>
        <p:nvSpPr>
          <p:cNvPr id="8" name="Oval 7"/>
          <p:cNvSpPr/>
          <p:nvPr/>
        </p:nvSpPr>
        <p:spPr>
          <a:xfrm>
            <a:off x="768096" y="3282696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63824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Target concurrency and idle timeout should mirror the traffic shape, not a default copied from another service.</a:t>
            </a:r>
          </a:p>
        </p:txBody>
      </p:sp>
      <p:sp>
        <p:nvSpPr>
          <p:cNvPr id="10" name="Oval 9"/>
          <p:cNvSpPr/>
          <p:nvPr/>
        </p:nvSpPr>
        <p:spPr>
          <a:xfrm>
            <a:off x="768096" y="4032504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13632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Require team, cost_center, and environment labels on every deployment so billing export can support chargeback.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" y="4782312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63440"/>
            <a:ext cx="10149840" cy="65836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Untagged spend should land on the platform budget to create an incentive for label compliance.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5669280" cy="25603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9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6327648"/>
            <a:ext cx="5577840" cy="25603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/>
            <a:r>
              <a:rPr sz="900" b="0">
                <a:solidFill>
                  <a:srgbClr val="A1A1AA"/>
                </a:solidFill>
              </a:rPr>
              <a:t>Gemini Enterprise Agents · Chapter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6692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81328"/>
            <a:ext cx="9966960" cy="5029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Write a production runbook for the Chapter 6 invoice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331720"/>
            <a:ext cx="32004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/>
            <a:r>
              <a:rPr sz="1700" b="1">
                <a:solidFill>
                  <a:srgbClr val="A1A1AA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2304288"/>
            <a:ext cx="9144000" cy="5029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Define p50, p99, availability, and max cost-per-invoice targets with justification.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990087"/>
            <a:ext cx="32004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/>
            <a:r>
              <a:rPr sz="1700" b="1">
                <a:solidFill>
                  <a:srgbClr val="A1A1AA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0784" y="2962656"/>
            <a:ext cx="9144000" cy="5029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Project launch and 6-month capacity, including the PT decision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648455"/>
            <a:ext cx="32004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/>
            <a:r>
              <a:rPr sz="1700" b="1">
                <a:solidFill>
                  <a:srgbClr val="A1A1AA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3621023"/>
            <a:ext cx="9144000" cy="5029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Break down Pro tokens, Flash tokens, runtime hours, storage, and audit-log retention.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306823"/>
            <a:ext cx="32004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/>
            <a:r>
              <a:rPr sz="1700" b="1">
                <a:solidFill>
                  <a:srgbClr val="A1A1AA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4279391"/>
            <a:ext cx="9144000" cy="5029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Document quotas, autoscaling profile, labels, rollback steps, and three failure scenarios.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394960"/>
            <a:ext cx="9601200" cy="4572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/>
            <a:r>
              <a:rPr sz="1800" b="1">
                <a:solidFill>
                  <a:srgbClr val="A1A1AA"/>
                </a:solidFill>
              </a:rPr>
              <a:t>Read the full chapter · academy.kspl.tech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144768"/>
            <a:ext cx="10332720" cy="292608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/>
            <a:r>
              <a:rPr sz="11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