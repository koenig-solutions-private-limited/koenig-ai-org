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058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1A1AA"/>
                </a:solidFill>
              </a:rPr>
              <a:t>OPENAI AGENTS SDK MASTERY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1A1AA"/>
                </a:solidFill>
              </a:rPr>
              <a:t>Chapter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Anatomy of an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1A1AA"/>
                </a:solidFill>
              </a:rPr>
              <a:t>60 min  ·  Agents vs. chatbots · Agent loops · Tool definition · Runtime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Course 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1A1AA"/>
                </a:solidFill>
              </a:rPr>
              <a:t>10 chapters · 8 hours total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Ch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92024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→  Anatomy of an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18004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</a:rPr>
              <a:t>Ch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18004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  The Agent SDK Tool-Calling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15768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</a:rPr>
              <a:t>Ch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715768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  State and Persistent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13532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</a:rPr>
              <a:t>Ch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11353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  Planning and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11296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</a:rPr>
              <a:t>Ch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51129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  Human-in-the-loop Workflows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0906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</a:rPr>
              <a:t>Ch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90906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  Observability, Tracing, and Debugging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06824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</a:rPr>
              <a:t>Ch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306824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  Testing and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704588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</a:rPr>
              <a:t>Ch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704588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  Production 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02352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</a:rPr>
              <a:t>Ch 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10235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  Advanced Patterns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00116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1A1AA"/>
                </a:solidFill>
              </a:rPr>
              <a:t>Ch 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50011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  Capstone: Autonomous Research Assistant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OpenAI Agents SDK Mastery  · 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you'll be able to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1A1AA"/>
                </a:solidFill>
              </a:rPr>
              <a:t>Learning Objectives — Chapter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 Define agents vs. chatbots — what makes a system 'agentic'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44368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 Identify the core SDK objects: Agent, Runner, Tool, and Thread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8561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 Explain the agent loop — perceive, reason, act, observe, repeat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26864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 Set up the OpenAI Agents SDK development environment from scratch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68112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▸  Build and run a working 'Hello World' agent end-to-end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OpenAI Agents SDK Mastery  · 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Agents vs. Chatbots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1A1AA"/>
                </a:solidFill>
              </a:rPr>
              <a:t>The key architectural difference — and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1A1AA"/>
                </a:solidFill>
              </a:rPr>
              <a:t>Dimension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6916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1A1AA"/>
                </a:solidFill>
              </a:rPr>
              <a:t>Chatbot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6916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1A1AA"/>
                </a:solidFill>
              </a:rPr>
              <a:t>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1A1AA"/>
                </a:solidFill>
              </a:rPr>
              <a:t>Turns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1488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Single-turn (one Q → one 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488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B82F6"/>
                </a:solidFill>
              </a:rPr>
              <a:t>Multi-turn loop until goal is met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157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1A1AA"/>
                </a:solidFill>
              </a:rPr>
              <a:t>Initiative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71576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Reactive — waits to be asked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71576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B82F6"/>
                </a:solidFill>
              </a:rPr>
              <a:t>Proactive — decides next action itself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8269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1A1AA"/>
                </a:solidFill>
              </a:rPr>
              <a:t>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282696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Stateless by default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282696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B82F6"/>
                </a:solidFill>
              </a:rPr>
              <a:t>Maintains state across steps (Thread)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49624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1A1AA"/>
                </a:solidFill>
              </a:rPr>
              <a:t>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849624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Text response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849624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B82F6"/>
                </a:solidFill>
              </a:rPr>
              <a:t>Calls tools, writes files, calls APIs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1655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1A1AA"/>
                </a:solidFill>
              </a:rPr>
              <a:t>Goal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41655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Answer the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41655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B82F6"/>
                </a:solidFill>
              </a:rPr>
              <a:t>Complete a task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06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Key insight: an agent replaces a human operator, not just a search box.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OpenAI Agents SDK Mastery  · 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Agent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1A1AA"/>
                </a:solidFill>
              </a:rPr>
              <a:t>Core execution pattern — the heartbeat of every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</a:rPr>
              <a:t>1  Receive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874519"/>
            <a:ext cx="8778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Task or user message enters the agent's context (Thread)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59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</a:rPr>
              <a:t>2  Reason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651759"/>
            <a:ext cx="8778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LLM call with system prompt + tools + current context → decides what to do 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8999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</a:rPr>
              <a:t>3  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428999"/>
            <a:ext cx="8778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If a tool call is returned, SDK executes the Python function with the model's arguments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39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</a:rPr>
              <a:t>4  Observe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4206239"/>
            <a:ext cx="8778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Tool result is appended to the Thread as a new message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83479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</a:rPr>
              <a:t>5  Repeat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4983479"/>
            <a:ext cx="8778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Loop continues until model returns a final answer (no tool call) or max_turns is hit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3387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A1A1AA"/>
                </a:solidFill>
              </a:rPr>
              <a:t>Tip: Runner.run() handles the loop for you — but knowing it runs helps you debug.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OpenAI Agents SDK Mastery  · 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SDK Core Objects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1A1AA"/>
                </a:solidFill>
              </a:rPr>
              <a:t>Four building blocks you'll use in every agent you write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B82F6"/>
                </a:solidFill>
              </a:rPr>
              <a:t>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874519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Declares the agent's identity: instructions (system prompt), model, and list of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39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B82F6"/>
                </a:solidFill>
              </a:rPr>
              <a:t>Runner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834639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Executes the agent loop synchronously or asynchronously; returns a Result object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59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B82F6"/>
                </a:solidFill>
              </a:rPr>
              <a:t>Tool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794759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 Python function decorated with @function_tool; the SDK generates the JSON schema automatically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79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B82F6"/>
                </a:solidFill>
              </a:rPr>
              <a:t>Thread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754879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Stateful message history — persisted between runs to give agents memory across turns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OpenAI Agents SDK Mastery  · 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Tool Definition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1A1AA"/>
                </a:solidFill>
              </a:rPr>
              <a:t>How to expose Python functions to your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Decorate any Python function with @function_tool — no additional config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16352"/>
            <a:ext cx="10698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Use type hints and a docstring: the SDK converts them into the JSON schema for the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21024"/>
            <a:ext cx="10698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Parameters become the tool's input schema; return value (str or Pydantic model) is the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25696"/>
            <a:ext cx="10698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Raise exceptions or return error strings — the agent will observe failures and can retry or pivot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30368"/>
            <a:ext cx="10698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Tools run in the same process by default; async tools supported with async def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22C55E"/>
                </a:solidFill>
              </a:rPr>
              <a:t>Example:  @function_tool  def get_weather(city: str) -&gt; str: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OpenAI Agents SDK Mastery  ·  Koenig AI Academy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Runtime Environment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1A1AA"/>
                </a:solidFill>
              </a:rPr>
              <a:t>From zero to a running agent in under 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ACC15"/>
                </a:solidFill>
              </a:rPr>
              <a:t>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82880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Python 3.10+  ·  pip or uv  ·  OpenAI API key (platform.openai.com)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3347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ACC15"/>
                </a:solidFill>
              </a:rPr>
              <a:t>Install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633472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pip install openai-agents   (or: uv add openai-agents)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3814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ACC15"/>
                </a:solidFill>
              </a:rPr>
              <a:t>Configure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438144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export OPENAI_API_KEY=sk-...   (or set in .env + python-dotenv)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4281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ACC15"/>
                </a:solidFill>
              </a:rPr>
              <a:t>First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4242816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from agents import Agent, Runner  →  result = Runner.run_sync(agent, 'Hello')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4748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ACC15"/>
                </a:solidFill>
              </a:rPr>
              <a:t>Trace viewer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5047488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openai.com/trace — visual replay of every agent loop step; invaluable for debugging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OpenAI Agents SDK Mastery  ·  Koenig AI Academy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Hands-on Exercise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1A1AA"/>
                </a:solidFill>
              </a:rPr>
              <a:t>Build your first agent end-to-end  — est. 15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Install the SDK:  pip install openai-agents  and set OPENAI_API_KEY in your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34056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34056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Define one tool:  @function_tool  def echo(message: str) -&gt; str: return f'Echo: {message}'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0215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</a:rP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502152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Create an Agent:  agent = Agent(name='hello', instructions='You are a helpful assistant.', tools=[echo])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7024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</a:rPr>
              <a:t>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27024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Run it:  result = Runner.run_sync(agent, 'Say hello back to me using the echo tool')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3834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</a:rPr>
              <a:t>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038344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Inspect the result:  print(result.final_output)  and explore  result.new_messages  for the loop trace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3387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✓  Done when: agent calls echo(), receives the result, and prints a final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OpenAI Agents SDK Mastery  ·  Koenig AI Academy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Knowledge Check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1A1AA"/>
                </a:solidFill>
              </a:rPr>
              <a:t>Test your understanding before moving to Chapter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 support bot answers one question per turn, has no tools, and forgets each conversation.
A colleague's agent books flights, updates a CRM, and picks up where it left off.
Which SDK object keeps state between the agent's runs?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089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A.  Agent — because it holds the instructions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B.  Runner — because it executes each 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023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B82F6"/>
                </a:solidFill>
              </a:rPr>
              <a:t>C.  Thread  ✓ — persisted message history shared across runs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4805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D.  Tool — because it writes to external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212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1A1AA"/>
                </a:solidFill>
              </a:rPr>
              <a:t>Answer C: Thread stores the message history. Agent = behavior config. Runner = executor. Tool = 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OpenAI Agents SDK Mastery  ·  Koenig AI Academy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Chapter 1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1A1AA"/>
                </a:solidFill>
              </a:rPr>
              <a:t>What you now know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Agents differ from chatbots by running a loop, maintaining state, and calling tools autonomously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44368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The agent loop: Receive → Reason → Act → Observe → Repeat (until goal or max_turns)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8561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Four SDK objects: Agent (config), Runner (executor), Tool (function), Thread (memory)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26864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Tools are plain Python functions decorated with @function_tool — SDK handles the schema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68112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▸  You can set up and run a working agent in under 5 minutes with pip install openai-agents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1A1AA"/>
                </a:solidFill>
              </a:rPr>
              <a:t>OpenAI Agents SDK Mastery  ·  Koenig AI Academy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Try it next 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B82F6"/>
                </a:solidFill>
              </a:rPr>
              <a:t>Chapter 2: The Agent SDK Tool-Calling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You can now build a Hello World agent.
Chapter 2 teaches you how to define robust, production-grade tools with Pydantic schemas,
handle structured output, and recover gracefully from tool errors.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