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E4F8"/>
                </a:solidFill>
              </a:rPr>
              <a:t>MICROSOFT ADVERTISING / BING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Conversion Tracking,
Enhanced Conversions
&amp; Performance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4F8"/>
                </a:solidFill>
              </a:rPr>
              <a:t>Koenig AI Academy  ·  academy.kspl.tech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8D4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42424"/>
                </a:solidFill>
              </a:rPr>
              <a:t>✦  Create UrlGoal and EventGoal conversion goals linked to your UET tag</a:t>
            </a:r>
          </a:p>
          <a:p>
            <a:pPr algn="l"/>
            <a:r>
              <a:rPr sz="1800">
                <a:solidFill>
                  <a:srgbClr val="242424"/>
                </a:solidFill>
              </a:rPr>
              <a:t>✦  Implement Enhanced Conversions with SHA-256 hashing of email &amp; phone</a:t>
            </a:r>
          </a:p>
          <a:p>
            <a:pPr algn="l"/>
            <a:r>
              <a:rPr sz="1800">
                <a:solidFill>
                  <a:srgbClr val="242424"/>
                </a:solidFill>
              </a:rPr>
              <a:t>✦  Validate conversion health using the conversion diagnostics panel</a:t>
            </a:r>
          </a:p>
          <a:p>
            <a:pPr algn="l"/>
            <a:r>
              <a:rPr sz="1800">
                <a:solidFill>
                  <a:srgbClr val="242424"/>
                </a:solidFill>
              </a:rPr>
              <a:t>✦  Build a standard performance dashboard with the correct reporting columns</a:t>
            </a:r>
          </a:p>
          <a:p>
            <a:pPr algn="l"/>
            <a:r>
              <a:rPr sz="1800">
                <a:solidFill>
                  <a:srgbClr val="242424"/>
                </a:solidFill>
              </a:rPr>
              <a:t>✦  Read the Bid Strategy Report to identify and remediate a learning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8D4"/>
                </a:solidFill>
              </a:rPr>
              <a:t>Conversion Goal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</a:rPr>
              <a:t>UrlGoal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42424"/>
                </a:solidFill>
              </a:rPr>
              <a:t>• Fires when browser loads a matching destination URL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• No custom event code needed — base UET tag does it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• Use for macro-conversions: /booking/confirmed, /thank-you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• Simplest goal type — deploy first in any new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097280"/>
            <a:ext cx="27432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294"/>
                </a:solidFill>
              </a:rPr>
              <a:t>EventGoal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42424"/>
                </a:solidFill>
              </a:rPr>
              <a:t>• Fires on window.uetq.push() or CAPI custom event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• Use for micro-conversions: viewed hotel, started checkout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• Required for SPA modals — no URL change occurs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• One UET tag ID supports multiple goals simultaneously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E6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⚑  SPA modal with no URL change? → EventGoal only. UrlGoal will record zero conversions.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8D4"/>
                </a:solidFill>
              </a:rPr>
              <a:t>Enhanced Conversions: Hashed First-Party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Recovers conversions lost to cookie restrictions &amp; cross-device journeys.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424"/>
                </a:solidFill>
              </a:rPr>
              <a:t>Email normalization — order is mandatory: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42424"/>
                </a:solidFill>
              </a:rPr>
              <a:t>1.  Trim leading / trailing whitespace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2.  Split at @;  remove all dots from the user portion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3.  Remove +alias from the user portion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4.  Convert entire address to lowercase</a:t>
            </a:r>
          </a:p>
          <a:p>
            <a:pPr algn="l"/>
            <a:r>
              <a:rPr sz="1500">
                <a:solidFill>
                  <a:srgbClr val="242424"/>
                </a:solidFill>
              </a:rPr>
              <a:t>5.  Apply SHA-256 → lowercase hexadecimal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508760"/>
            <a:ext cx="4389120" cy="3474720"/>
          </a:xfrm>
          <a:prstGeom prst="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00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56004"/>
                </a:solidFill>
              </a:rPr>
              <a:t>⚠ 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0116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56004"/>
                </a:solidFill>
              </a:rPr>
              <a:t>Sending un-normalized email through SHA-256 produces a hash Microsoft's user graph won't match → zero Enhanced Conversion uplift with no error in the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Pass hashed em + ph in CAPI userData alongside msclkid. No plaintext PII leaves your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8D4"/>
                </a:solidFill>
              </a:rPr>
              <a:t>Validating with the Conversion Diagnostics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060"/>
                </a:solidFill>
              </a:rPr>
              <a:t>Tools → Conversion Tracking → Conversion Goals → [Select Goal] →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188720"/>
          </a:xfrm>
          <a:prstGeom prst="rect">
            <a:avLst/>
          </a:prstGeom>
          <a:solidFill>
            <a:srgbClr val="F0F8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</a:rPr>
              <a:t>● Goal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424"/>
                </a:solidFill>
              </a:rPr>
              <a:t>Active, Inactive, or No recent conversions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40"/>
            <a:ext cx="11064240" cy="1188720"/>
          </a:xfrm>
          <a:prstGeom prst="rect">
            <a:avLst/>
          </a:prstGeom>
          <a:solidFill>
            <a:srgbClr val="F0F8FF"/>
          </a:solidFill>
          <a:ln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294"/>
                </a:solidFill>
              </a:rPr>
              <a:t>● Tag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424"/>
                </a:solidFill>
              </a:rPr>
              <a:t>Whether the UET tag is sending events to this 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11064240" cy="1188720"/>
          </a:xfrm>
          <a:prstGeom prst="rect">
            <a:avLst/>
          </a:prstGeom>
          <a:solidFill>
            <a:srgbClr val="F0F8FF"/>
          </a:solidFill>
          <a:ln>
            <a:solidFill>
              <a:srgbClr val="107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7527"/>
                </a:solidFill>
              </a:rPr>
              <a:t>● Enhanced Conversions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424"/>
                </a:solidFill>
              </a:rPr>
              <a:t>Hashed user data arriving and being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UET Tag Helper extension → confirms client-side tag firing (ch4 scope)
Diagnostics panel → confirms goal-level data health (ch6 scope)  ·  Use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8D4"/>
                </a:solidFill>
              </a:rPr>
              <a:t>Building Your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060"/>
                </a:solidFill>
              </a:rPr>
              <a:t>AdPerformanceReport — required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Column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270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20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Impressions / Clicks / CTR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Ctr = (Clicks / Impressions)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96312"/>
            <a:ext cx="11064240" cy="59436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Avg. 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AverageCpc = Spend / Clicks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18104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278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Conversions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278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ConversionsQualified ← NOT deprecated Conversions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39896"/>
            <a:ext cx="11064240" cy="59436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96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CPA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4962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CostPerConversion = Spend / Conversions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61688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714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Revenue &amp; ROAS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7141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Revenue / Spend  (requires fixed revenue on goal)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932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Top Impression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932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</a:rPr>
              <a:t>TopImpressionRatePercent — % in mainline positions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50000"/>
                </a:solidFill>
              </a:rPr>
              <a:t>⛔  Conversions + AllConversions deprecated 2022 — return 0. Use ConversionsQualified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8D4"/>
                </a:solidFill>
              </a:rPr>
              <a:t>Bid Strategy Report: Learning-Period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Pull with 30-day range when Target CPA / Target ROAS is underperforming.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ConversionsQualified &lt; 30 /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Bid strategy has stopped optimizing — prerequisite failure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1064240" cy="960120"/>
          </a:xfrm>
          <a:prstGeom prst="rect">
            <a:avLst/>
          </a:prstGeom>
          <a:solidFill>
            <a:srgbClr val="FDF4F4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50000"/>
                </a:solidFill>
              </a:rPr>
              <a:t>ConversionDelay rising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Primary learning-period diagnostic — gap between click and conversion widening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1106424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85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AvgTargetCPA diverging from TargetCPA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Algorithm struggling to hit set target (new May 2026 metric)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11064240" cy="960120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CostPerConversionQualified &gt; 150% of TargetCPA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2424"/>
                </a:solidFill>
              </a:rPr>
              <a:t>System still in pattern-matching mode, not optimized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</a:rPr>
              <a:t>Remediation order: 1) Add micro-conversion EventGoals  2) Broaden match types  3) Switch to Maximize Conversions until 30-conversion threshold is met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