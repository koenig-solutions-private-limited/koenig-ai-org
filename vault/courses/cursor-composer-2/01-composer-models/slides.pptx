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grounds learners in what Cursor Composer 2 actually is — model lineage, pricing, honest benchmark reading — and gives them two foundational project files: .cursorrules and AGENTS.md. Every subsequent chapter assumes these are set 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this chapter, learners can explain the Composer 2 model lineage, apply the routing rubric to their own workloads, and configure the two project files that govern all AI sessions in a Cursor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teaching point: lineage disclosure matters not for drama but because it determines failure modes. Teams using Composer 2 for unfamiliar architecture work may hit the same gaps as Kimi K2.5. Price point changes iteration economics significantly.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two-layer framework prevents both dismissal ('benchmarks mean nothing') and credulity ('it's ranked higher so we'll always use it'). The local eval habit is the practical takeaway — it is the only way to know if the model suits your stack.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routing rubric is the chapter's most practically useful artifact. Ask learners: which of their weekly tasks fall into these categories? Most iterative feature work does.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have learners add the escalation signal as a named rule in their .cursorrules: 'If the task requires reasoning across 5+ unfamiliar subsystems, flag for human review before proceeding.' This makes the routing rubric machine-readable.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message: Auto routing is a convenience default, not a production governance strategy. Teams that cannot name the model that generated a given change are not in a position to reason about its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habits that separate teams that get consistent output from Composer 2 from those that fight it constantly. The workspace-root rule is the most commonly missed — many engineers open project subdirectories by habit from VS Code workflows.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principle: constraint-based rules outperform style-based rules. The model cannot operationalize vague style guidance, but it can check 'is this function longer than 40 lines?' Ask learners to list 3 verifiable rules for their own project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AGENTS.md is the file that makes Cursor Background Agents safe to run on real codebases. Without it, the agent has no escalation path and will make architectural decisions silently. The escalation rules section is the highest-leverage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anti-patterns are distilled from community usage threads and direct production experience. The mega-session anti-pattern is the most universally underestimated — most developers do not realize context quality degrades significantly after 30+ turns.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takeaways are the chapter's core — learners should be able to recite them before proceeding to Chapter 2. The most commonly forgotten: .cursorrules needs constraint-based (verifiable) rules, not style guidance.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builds directly on the project foundation from Chapter 1. The techniques for context window management only work well when .cursorrules and AGENTS.md are already in place. Make sure learners have completed the hands-on exercise before proceeding.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818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062984" cy="64008"/>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062984" y="0"/>
            <a:ext cx="4062984" cy="6400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5968" y="0"/>
            <a:ext cx="4062984"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280160"/>
            <a:ext cx="10332720" cy="457200"/>
          </a:xfrm>
          <a:prstGeom prst="rect">
            <a:avLst/>
          </a:prstGeom>
          <a:noFill/>
        </p:spPr>
        <p:txBody>
          <a:bodyPr wrap="square">
            <a:spAutoFit/>
          </a:bodyPr>
          <a:lstStyle/>
          <a:p>
            <a:pPr algn="ctr"/>
            <a:r>
              <a:rPr sz="1500" b="1">
                <a:solidFill>
                  <a:srgbClr val="8B5CF6"/>
                </a:solidFill>
              </a:rPr>
              <a:t>CHAPTER 1</a:t>
            </a:r>
          </a:p>
        </p:txBody>
      </p:sp>
      <p:sp>
        <p:nvSpPr>
          <p:cNvPr id="7" name="TextBox 6"/>
          <p:cNvSpPr txBox="1"/>
          <p:nvPr/>
        </p:nvSpPr>
        <p:spPr>
          <a:xfrm>
            <a:off x="914400" y="1828800"/>
            <a:ext cx="10332720" cy="1463040"/>
          </a:xfrm>
          <a:prstGeom prst="rect">
            <a:avLst/>
          </a:prstGeom>
          <a:noFill/>
        </p:spPr>
        <p:txBody>
          <a:bodyPr wrap="square">
            <a:spAutoFit/>
          </a:bodyPr>
          <a:lstStyle/>
          <a:p>
            <a:pPr algn="ctr"/>
            <a:r>
              <a:rPr sz="3800" b="1">
                <a:solidFill>
                  <a:srgbClr val="FFFFFF"/>
                </a:solidFill>
              </a:rPr>
              <a:t>Composer 2 Models &amp; IDE-First Workflow (2026)</a:t>
            </a:r>
          </a:p>
        </p:txBody>
      </p:sp>
      <p:sp>
        <p:nvSpPr>
          <p:cNvPr id="8" name="TextBox 7"/>
          <p:cNvSpPr txBox="1"/>
          <p:nvPr/>
        </p:nvSpPr>
        <p:spPr>
          <a:xfrm>
            <a:off x="914400" y="3474720"/>
            <a:ext cx="10332720" cy="548640"/>
          </a:xfrm>
          <a:prstGeom prst="rect">
            <a:avLst/>
          </a:prstGeom>
          <a:noFill/>
        </p:spPr>
        <p:txBody>
          <a:bodyPr wrap="square">
            <a:spAutoFit/>
          </a:bodyPr>
          <a:lstStyle/>
          <a:p>
            <a:pPr algn="ctr"/>
            <a:r>
              <a:rPr sz="1600" b="0">
                <a:solidFill>
                  <a:srgbClr val="A1A1AA"/>
                </a:solidFill>
              </a:rPr>
              <a:t>Cursor Composer 2  ·  Routing Rubric  ·  .cursorrules  ·  AGENTS.md</a:t>
            </a:r>
          </a:p>
        </p:txBody>
      </p:sp>
      <p:sp>
        <p:nvSpPr>
          <p:cNvPr id="9" name="TextBox 8"/>
          <p:cNvSpPr txBox="1"/>
          <p:nvPr/>
        </p:nvSpPr>
        <p:spPr>
          <a:xfrm>
            <a:off x="914400" y="4663440"/>
            <a:ext cx="10332720" cy="365760"/>
          </a:xfrm>
          <a:prstGeom prst="rect">
            <a:avLst/>
          </a:prstGeom>
          <a:noFill/>
        </p:spPr>
        <p:txBody>
          <a:bodyPr wrap="square">
            <a:spAutoFit/>
          </a:bodyPr>
          <a:lstStyle/>
          <a:p>
            <a:pPr algn="ctr"/>
            <a:r>
              <a:rPr sz="1200" b="0">
                <a:solidFill>
                  <a:srgbClr val="A1A1AA"/>
                </a:solidFill>
              </a:rPr>
              <a:t>Koenig AI Academy  |  academy.kspl.tech</a:t>
            </a:r>
          </a:p>
        </p:txBody>
      </p:sp>
      <p:sp>
        <p:nvSpPr>
          <p:cNvPr id="10" name="Rectangle 9"/>
          <p:cNvSpPr/>
          <p:nvPr/>
        </p:nvSpPr>
        <p:spPr>
          <a:xfrm>
            <a:off x="5120640" y="5669280"/>
            <a:ext cx="1920240" cy="457200"/>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66360" y="5687568"/>
            <a:ext cx="1828800" cy="384048"/>
          </a:xfrm>
          <a:prstGeom prst="rect">
            <a:avLst/>
          </a:prstGeom>
          <a:noFill/>
        </p:spPr>
        <p:txBody>
          <a:bodyPr wrap="square">
            <a:spAutoFit/>
          </a:bodyPr>
          <a:lstStyle/>
          <a:p>
            <a:pPr algn="ctr"/>
            <a:r>
              <a:rPr sz="1300" b="1">
                <a:solidFill>
                  <a:srgbClr val="FFFFFF"/>
                </a:solidFill>
              </a:rPr>
              <a:t>⏱  45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972800" cy="594360"/>
          </a:xfrm>
          <a:prstGeom prst="rect">
            <a:avLst/>
          </a:prstGeom>
          <a:noFill/>
        </p:spPr>
        <p:txBody>
          <a:bodyPr wrap="square">
            <a:spAutoFit/>
          </a:bodyPr>
          <a:lstStyle/>
          <a:p>
            <a:pPr algn="l"/>
            <a:r>
              <a:rPr sz="2600" b="1">
                <a:solidFill>
                  <a:srgbClr val="18181B"/>
                </a:solidFill>
              </a:rPr>
              <a:t>Learning Objectives</a:t>
            </a:r>
          </a:p>
        </p:txBody>
      </p:sp>
      <p:sp>
        <p:nvSpPr>
          <p:cNvPr id="5" name="Rectangle 4"/>
          <p:cNvSpPr/>
          <p:nvPr/>
        </p:nvSpPr>
        <p:spPr>
          <a:xfrm>
            <a:off x="457200" y="804672"/>
            <a:ext cx="1124712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411480" cy="685800"/>
          </a:xfrm>
          <a:prstGeom prst="rect">
            <a:avLst/>
          </a:prstGeom>
          <a:noFill/>
        </p:spPr>
        <p:txBody>
          <a:bodyPr wrap="none">
            <a:spAutoFit/>
          </a:bodyPr>
          <a:lstStyle/>
          <a:p>
            <a:pPr algn="ctr"/>
            <a:r>
              <a:rPr sz="1800" b="1">
                <a:solidFill>
                  <a:srgbClr val="6366F1"/>
                </a:solidFill>
              </a:rPr>
              <a:t>1</a:t>
            </a:r>
          </a:p>
        </p:txBody>
      </p:sp>
      <p:sp>
        <p:nvSpPr>
          <p:cNvPr id="7" name="TextBox 6"/>
          <p:cNvSpPr txBox="1"/>
          <p:nvPr/>
        </p:nvSpPr>
        <p:spPr>
          <a:xfrm>
            <a:off x="1005840" y="1005840"/>
            <a:ext cx="10698480" cy="685800"/>
          </a:xfrm>
          <a:prstGeom prst="rect">
            <a:avLst/>
          </a:prstGeom>
          <a:noFill/>
        </p:spPr>
        <p:txBody>
          <a:bodyPr wrap="square">
            <a:spAutoFit/>
          </a:bodyPr>
          <a:lstStyle/>
          <a:p>
            <a:r>
              <a:rPr sz="1500">
                <a:solidFill>
                  <a:srgbClr val="18181B"/>
                </a:solidFill>
              </a:rPr>
              <a:t>Understand what Cursor Composer 2 is, including its model lineage and pricing</a:t>
            </a:r>
          </a:p>
        </p:txBody>
      </p:sp>
      <p:sp>
        <p:nvSpPr>
          <p:cNvPr id="8" name="TextBox 7"/>
          <p:cNvSpPr txBox="1"/>
          <p:nvPr/>
        </p:nvSpPr>
        <p:spPr>
          <a:xfrm>
            <a:off x="457200" y="1920240"/>
            <a:ext cx="411480" cy="685800"/>
          </a:xfrm>
          <a:prstGeom prst="rect">
            <a:avLst/>
          </a:prstGeom>
          <a:noFill/>
        </p:spPr>
        <p:txBody>
          <a:bodyPr wrap="none">
            <a:spAutoFit/>
          </a:bodyPr>
          <a:lstStyle/>
          <a:p>
            <a:pPr algn="ctr"/>
            <a:r>
              <a:rPr sz="1800" b="1">
                <a:solidFill>
                  <a:srgbClr val="6366F1"/>
                </a:solidFill>
              </a:rPr>
              <a:t>2</a:t>
            </a:r>
          </a:p>
        </p:txBody>
      </p:sp>
      <p:sp>
        <p:nvSpPr>
          <p:cNvPr id="9" name="TextBox 8"/>
          <p:cNvSpPr txBox="1"/>
          <p:nvPr/>
        </p:nvSpPr>
        <p:spPr>
          <a:xfrm>
            <a:off x="1005840" y="1965960"/>
            <a:ext cx="10698480" cy="685800"/>
          </a:xfrm>
          <a:prstGeom prst="rect">
            <a:avLst/>
          </a:prstGeom>
          <a:noFill/>
        </p:spPr>
        <p:txBody>
          <a:bodyPr wrap="square">
            <a:spAutoFit/>
          </a:bodyPr>
          <a:lstStyle/>
          <a:p>
            <a:r>
              <a:rPr sz="1500">
                <a:solidFill>
                  <a:srgbClr val="18181B"/>
                </a:solidFill>
              </a:rPr>
              <a:t>Apply a routing rubric to decide when to use Composer 2 versus a frontier reasoning model</a:t>
            </a:r>
          </a:p>
        </p:txBody>
      </p:sp>
      <p:sp>
        <p:nvSpPr>
          <p:cNvPr id="10" name="TextBox 9"/>
          <p:cNvSpPr txBox="1"/>
          <p:nvPr/>
        </p:nvSpPr>
        <p:spPr>
          <a:xfrm>
            <a:off x="457200" y="2880360"/>
            <a:ext cx="411480" cy="685800"/>
          </a:xfrm>
          <a:prstGeom prst="rect">
            <a:avLst/>
          </a:prstGeom>
          <a:noFill/>
        </p:spPr>
        <p:txBody>
          <a:bodyPr wrap="none">
            <a:spAutoFit/>
          </a:bodyPr>
          <a:lstStyle/>
          <a:p>
            <a:pPr algn="ctr"/>
            <a:r>
              <a:rPr sz="1800" b="1">
                <a:solidFill>
                  <a:srgbClr val="6366F1"/>
                </a:solidFill>
              </a:rPr>
              <a:t>3</a:t>
            </a:r>
          </a:p>
        </p:txBody>
      </p:sp>
      <p:sp>
        <p:nvSpPr>
          <p:cNvPr id="11" name="TextBox 10"/>
          <p:cNvSpPr txBox="1"/>
          <p:nvPr/>
        </p:nvSpPr>
        <p:spPr>
          <a:xfrm>
            <a:off x="1005840" y="2926080"/>
            <a:ext cx="10698480" cy="685800"/>
          </a:xfrm>
          <a:prstGeom prst="rect">
            <a:avLst/>
          </a:prstGeom>
          <a:noFill/>
        </p:spPr>
        <p:txBody>
          <a:bodyPr wrap="square">
            <a:spAutoFit/>
          </a:bodyPr>
          <a:lstStyle/>
          <a:p>
            <a:r>
              <a:rPr sz="1500">
                <a:solidFill>
                  <a:srgbClr val="18181B"/>
                </a:solidFill>
              </a:rPr>
              <a:t>Configure a project .cursorrules file that steers AI behavior reliably</a:t>
            </a:r>
          </a:p>
        </p:txBody>
      </p:sp>
      <p:sp>
        <p:nvSpPr>
          <p:cNvPr id="12" name="TextBox 11"/>
          <p:cNvSpPr txBox="1"/>
          <p:nvPr/>
        </p:nvSpPr>
        <p:spPr>
          <a:xfrm>
            <a:off x="457200" y="3840480"/>
            <a:ext cx="411480" cy="685800"/>
          </a:xfrm>
          <a:prstGeom prst="rect">
            <a:avLst/>
          </a:prstGeom>
          <a:noFill/>
        </p:spPr>
        <p:txBody>
          <a:bodyPr wrap="none">
            <a:spAutoFit/>
          </a:bodyPr>
          <a:lstStyle/>
          <a:p>
            <a:pPr algn="ctr"/>
            <a:r>
              <a:rPr sz="1800" b="1">
                <a:solidFill>
                  <a:srgbClr val="6366F1"/>
                </a:solidFill>
              </a:rPr>
              <a:t>4</a:t>
            </a:r>
          </a:p>
        </p:txBody>
      </p:sp>
      <p:sp>
        <p:nvSpPr>
          <p:cNvPr id="13" name="TextBox 12"/>
          <p:cNvSpPr txBox="1"/>
          <p:nvPr/>
        </p:nvSpPr>
        <p:spPr>
          <a:xfrm>
            <a:off x="1005840" y="3886200"/>
            <a:ext cx="10698480" cy="685800"/>
          </a:xfrm>
          <a:prstGeom prst="rect">
            <a:avLst/>
          </a:prstGeom>
          <a:noFill/>
        </p:spPr>
        <p:txBody>
          <a:bodyPr wrap="square">
            <a:spAutoFit/>
          </a:bodyPr>
          <a:lstStyle/>
          <a:p>
            <a:r>
              <a:rPr sz="1500">
                <a:solidFill>
                  <a:srgbClr val="18181B"/>
                </a:solidFill>
              </a:rPr>
              <a:t>Set up an AGENTS.md file for multi-agent project context</a:t>
            </a:r>
          </a:p>
        </p:txBody>
      </p:sp>
      <p:sp>
        <p:nvSpPr>
          <p:cNvPr id="14" name="TextBox 13"/>
          <p:cNvSpPr txBox="1"/>
          <p:nvPr/>
        </p:nvSpPr>
        <p:spPr>
          <a:xfrm>
            <a:off x="457200" y="4800600"/>
            <a:ext cx="411480" cy="685800"/>
          </a:xfrm>
          <a:prstGeom prst="rect">
            <a:avLst/>
          </a:prstGeom>
          <a:noFill/>
        </p:spPr>
        <p:txBody>
          <a:bodyPr wrap="none">
            <a:spAutoFit/>
          </a:bodyPr>
          <a:lstStyle/>
          <a:p>
            <a:pPr algn="ctr"/>
            <a:r>
              <a:rPr sz="1800" b="1">
                <a:solidFill>
                  <a:srgbClr val="6366F1"/>
                </a:solidFill>
              </a:rPr>
              <a:t>5</a:t>
            </a:r>
          </a:p>
        </p:txBody>
      </p:sp>
      <p:sp>
        <p:nvSpPr>
          <p:cNvPr id="15" name="TextBox 14"/>
          <p:cNvSpPr txBox="1"/>
          <p:nvPr/>
        </p:nvSpPr>
        <p:spPr>
          <a:xfrm>
            <a:off x="1005840" y="4846320"/>
            <a:ext cx="10698480" cy="685800"/>
          </a:xfrm>
          <a:prstGeom prst="rect">
            <a:avLst/>
          </a:prstGeom>
          <a:noFill/>
        </p:spPr>
        <p:txBody>
          <a:bodyPr wrap="square">
            <a:spAutoFit/>
          </a:bodyPr>
          <a:lstStyle/>
          <a:p>
            <a:r>
              <a:rPr sz="1500">
                <a:solidFill>
                  <a:srgbClr val="18181B"/>
                </a:solidFill>
              </a:rPr>
              <a:t>Enable informed benchmark reading with a two-layer skepticism framework</a:t>
            </a:r>
          </a:p>
        </p:txBody>
      </p:sp>
      <p:sp>
        <p:nvSpPr>
          <p:cNvPr id="16" name="TextBox 15"/>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1.1  What Cursor Composer 2 Is</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Built on Kimi K2.5 base model via two-phase training: continued pretraining + large-scale reinforcement learning optimized for agentic IDE tasks (source: Cursor technical report, arXiv 2603.24477)</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Cursor did not prominently disclose the base model at launch — community analysis on HackerNews and r/LocalLLaMA identified the Kimi K2.5 lineage via architecture and training methodology comparison</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Model lineage matters in practice: base-model strengths and failure modes carry forward after fine-tuning; run your own evals, don't rely on vendor benchmarks alone</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Standard pricing: $0.50 / M input tokens, $2.50 / M output tokens — approximately 86 % cheaper than previous Composer generation (VentureBeat, 2026-05-14)</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Max plan: Composer 2 usage included in subscription, removing per-token cost friction for teams running 50+ agent turns per day</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1.2  Benchmark Literacy: Reading Numbers Honestly</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Cursor reports Composer 2 at 61.3 on CursorBench, positioned above Claude Opus 4.6; VentureBeat: 'beats Opus 4.6 but trails GPT-5.4' — useful directional signal only</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Layer 1 — Directional signal: a model scoring 61.3 vs 45 on the same eval likely handles those task types better in tested conditions; CursorBench tests IDE-specific agentic tasks (multi-file edits, test generation, tool use) — more relevant than generic coding competitions</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Layer 2 — Local task evals as decision authority: your codebase has specific language versions, tribal knowledge, test harnesses, and reviewer standards that no public benchmark captures; run Composer 2 on 10–20 representative tasks before committing</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Benchmaxxed risk: if a benchmark score rose sharply without proportionally large training compute, the model may be overfit to the eval distribution — treat like a suspiciously high A/B test and run your own experiment</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Measure what matters in your context: correctness rate, follow-up prompts needed, test-pass rate on first attempt, and token spend per task completion</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1.3  Routing Rubric — Use Composer 2 For:</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Short-to-medium iteration loops: feature additions, bug fixes, refactor passes in code you own and understand well</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High-frequency experiments: parallel attempts ('try three approaches, I'll pick the best'), throwaway prototypes where iteration speed matters more than depth</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Routine generation tasks: CRUD endpoints, test cases, migration scripts for known schemas — tasks where you can predict what 'correct' looks like</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IDE-integrated edits: diff-reviewed changes where you inspect every hunk before accepting; Composer 2's cost economics support high-frequency review loops</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Cost-governed parallel agent sessions: token economics make Composer 2 the default for any task class where 50+ turns per day is feasible</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1.3  Routing Rubric — Escalate to Frontier Model When:</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Unfamiliar architecture: debugging third-party library internals you have never seen — when you cannot predict what the right answer looks like</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Brittle refactors: changing a core abstraction that 40+ files depend on, where the failure mode is subtle and a wrong answer may not be obviously wrong</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Security-sensitive reasoning: auth flows, crypto implementations, permission model design — areas where silent failure risk is unacceptable</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Complex cross-module debugging: tracing a bug that requires understanding state transitions across 5+ subsystems simultaneously</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Key escalation signal: 'When I cannot predict what correct looks like, and a wrong answer might not look wrong' — build this rubric into your .cursorrules as an explicit escalation instruction</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1.4  Auto Routing vs. Manual Model Pinning</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Auto model selection delegates to Cursor's internal logic based on task type and context size — reasonable default for everyday edits and short sessions</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Pin manually for: any session running more than 10–15 turns (cost governance), parallel agent loops needing consistent behavior for comparison, and onboarding demos requiring reproducible output</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Pin manually for regulated environments: model selection must be auditable; Auto routing optimizes for Cursor's metrics, not yours</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To pin in Cursor 0.44: open Composer panel → model dropdown (top-right of input) → select cursor-composer-2 → verify persistence in Settings → AI → Default Model</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Auto routing anti-pattern: using Auto for production-critical sessions or security-sensitive work where model identity must be known and stable</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1.5  Setting Up the IDE Environment</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Open the repository root (not a subdirectory): Composer uses the workspace root to discover .cursorrules and scope context-window crawls — opening a subdirectory silently breaks rule loading</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Enable inline diff mode (Settings → Editor → Diff: Inline Mode as of Cursor 0.44): makes AI-generated changes visibly separate from your code, reducing accidental acceptance of unwanted edits</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Use @file references explicitly rather than relying on open tabs being in context: Cursor includes open buffers in context — 20 open tabs is 20 files of noise</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Close files you are not actively editing: open buffers consume context window capacity; a disciplined tab hygiene habit is worth more than prompt engineering</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Start a new Composer session per discrete task: sessions accumulate context pollution; one new session per task is cheaper and more reliable than one mega-session per day</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1.6  Configuring .cursorrules</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.cursorrules is a project-level system prompt for Cursor: placed in the repository root, loaded at the start of every Composer session — the AI behavioral contract your whole team shares</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Weak rules fail because they are non-operationalizable: 'Write clean, readable code' gives the model nothing to verify against; 'Max function length: 40 lines, extract if longer' is verifiable</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Required categories in a production-ready file: stack pins (language, runtime, framework, DB, test runner, package manager), code standards, forbidden patterns, and explicit AI behavior instructions</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Forbidden patterns section is as important as standards: 'No raw SQL — use Drizzle query builder only', 'No console.log in production code — use lib/logger.ts', 'No direct DOM manipulation outside React components'</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Verify your file is tracked: check git ls-files .cursorrules — some community starters add it to .gitignore, silently removing your team's shared AI contract</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1.7  Setting Up AGENTS.md</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AGENTS.md serves a different purpose than .cursorrules: .cursorrules governs how the AI writes code; AGENTS.md provides project context — what the system is, how it is structured, what agents are active, and escalation rules</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Critical for multi-agent Cursor workflows: a Background Agent running a long task needs to understand the project without a live human in the loop; AGENTS.md is the document that grounds every agent session in real constraints</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Required sections: project purpose (one paragraph), directory architecture, active agents with scope limits ('no autonomous push rights — all changes require human review'), and ≥ 2 explicit escalation rules</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Escalation rules must name real risk boundaries: 'Any change to /server/auth → flag for security review before commit', 'Any DB migration → run drizzle-kit check and confirm no destructive ops'</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Both files are needed together: .cursorrules alone leaves agents without project context; AGENTS.md alone leaves them without behavioral constraints</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4864"/>
            <a:ext cx="228600" cy="680313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4592"/>
            <a:ext cx="11430000" cy="594360"/>
          </a:xfrm>
          <a:prstGeom prst="rect">
            <a:avLst/>
          </a:prstGeom>
          <a:noFill/>
        </p:spPr>
        <p:txBody>
          <a:bodyPr wrap="square">
            <a:spAutoFit/>
          </a:bodyPr>
          <a:lstStyle/>
          <a:p>
            <a:pPr algn="l"/>
            <a:r>
              <a:rPr sz="2600" b="1">
                <a:solidFill>
                  <a:srgbClr val="18181B"/>
                </a:solidFill>
              </a:rPr>
              <a:t>1.8  Common Pitfalls &amp; Anti-Patterns</a:t>
            </a:r>
          </a:p>
        </p:txBody>
      </p:sp>
      <p:sp>
        <p:nvSpPr>
          <p:cNvPr id="6" name="Rectangle 5"/>
          <p:cNvSpPr/>
          <p:nvPr/>
        </p:nvSpPr>
        <p:spPr>
          <a:xfrm>
            <a:off x="502920" y="804672"/>
            <a:ext cx="1143000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60120"/>
            <a:ext cx="11247120" cy="1005840"/>
          </a:xfrm>
          <a:prstGeom prst="rect">
            <a:avLst/>
          </a:prstGeom>
          <a:noFill/>
        </p:spPr>
        <p:txBody>
          <a:bodyPr wrap="square">
            <a:spAutoFit/>
          </a:bodyPr>
          <a:lstStyle/>
          <a:p>
            <a:pPr algn="l"/>
            <a:r>
              <a:rPr sz="1500">
                <a:solidFill>
                  <a:srgbClr val="18181B"/>
                </a:solidFill>
              </a:rPr>
              <a:t>▸  Vague .cursorrules: 'Write clean code' is not enforceable; the model cannot operationalize 'clean' — replace every vague guideline with a specific, measurable constraint the model can verify</a:t>
            </a:r>
          </a:p>
        </p:txBody>
      </p:sp>
      <p:sp>
        <p:nvSpPr>
          <p:cNvPr id="8" name="TextBox 7"/>
          <p:cNvSpPr txBox="1"/>
          <p:nvPr/>
        </p:nvSpPr>
        <p:spPr>
          <a:xfrm>
            <a:off x="502920" y="1828800"/>
            <a:ext cx="11247120" cy="1005840"/>
          </a:xfrm>
          <a:prstGeom prst="rect">
            <a:avLst/>
          </a:prstGeom>
          <a:noFill/>
        </p:spPr>
        <p:txBody>
          <a:bodyPr wrap="square">
            <a:spAutoFit/>
          </a:bodyPr>
          <a:lstStyle/>
          <a:p>
            <a:pPr algn="l"/>
            <a:r>
              <a:rPr sz="1500">
                <a:solidFill>
                  <a:srgbClr val="18181B"/>
                </a:solidFill>
              </a:rPr>
              <a:t>▸  One mega-session per day: running 60+ turns in a single session degrades output quality as context fills with earlier conversation turns — start a new session per discrete task</a:t>
            </a:r>
          </a:p>
        </p:txBody>
      </p:sp>
      <p:sp>
        <p:nvSpPr>
          <p:cNvPr id="9" name="TextBox 8"/>
          <p:cNvSpPr txBox="1"/>
          <p:nvPr/>
        </p:nvSpPr>
        <p:spPr>
          <a:xfrm>
            <a:off x="502920" y="2697480"/>
            <a:ext cx="11247120" cy="1005840"/>
          </a:xfrm>
          <a:prstGeom prst="rect">
            <a:avLst/>
          </a:prstGeom>
          <a:noFill/>
        </p:spPr>
        <p:txBody>
          <a:bodyPr wrap="square">
            <a:spAutoFit/>
          </a:bodyPr>
          <a:lstStyle/>
          <a:p>
            <a:pPr algn="l"/>
            <a:r>
              <a:rPr sz="1500">
                <a:solidFill>
                  <a:srgbClr val="18181B"/>
                </a:solidFill>
              </a:rPr>
              <a:t>▸  Auto routing in production-critical sessions: for demos, security-sensitive work, or any session requiring reproducible behavior, pin the model explicitly; Auto optimizes for Cursor's metrics, not yours</a:t>
            </a:r>
          </a:p>
        </p:txBody>
      </p:sp>
      <p:sp>
        <p:nvSpPr>
          <p:cNvPr id="10" name="TextBox 9"/>
          <p:cNvSpPr txBox="1"/>
          <p:nvPr/>
        </p:nvSpPr>
        <p:spPr>
          <a:xfrm>
            <a:off x="502920" y="3566160"/>
            <a:ext cx="11247120" cy="1005840"/>
          </a:xfrm>
          <a:prstGeom prst="rect">
            <a:avLst/>
          </a:prstGeom>
          <a:noFill/>
        </p:spPr>
        <p:txBody>
          <a:bodyPr wrap="square">
            <a:spAutoFit/>
          </a:bodyPr>
          <a:lstStyle/>
          <a:p>
            <a:pPr algn="l"/>
            <a:r>
              <a:rPr sz="1500">
                <a:solidFill>
                  <a:srgbClr val="18181B"/>
                </a:solidFill>
              </a:rPr>
              <a:t>▸  No AGENTS.md in multi-agent workflows: without project context and escalation rules, Background Agents have no boundary for what they must not do autonomously</a:t>
            </a:r>
          </a:p>
        </p:txBody>
      </p:sp>
      <p:sp>
        <p:nvSpPr>
          <p:cNvPr id="11" name="TextBox 10"/>
          <p:cNvSpPr txBox="1"/>
          <p:nvPr/>
        </p:nvSpPr>
        <p:spPr>
          <a:xfrm>
            <a:off x="502920" y="4434840"/>
            <a:ext cx="11247120" cy="1005840"/>
          </a:xfrm>
          <a:prstGeom prst="rect">
            <a:avLst/>
          </a:prstGeom>
          <a:noFill/>
        </p:spPr>
        <p:txBody>
          <a:bodyPr wrap="square">
            <a:spAutoFit/>
          </a:bodyPr>
          <a:lstStyle/>
          <a:p>
            <a:pPr algn="l"/>
            <a:r>
              <a:rPr sz="1500">
                <a:solidFill>
                  <a:srgbClr val="18181B"/>
                </a:solidFill>
              </a:rPr>
              <a:t>▸  Treating benchmark superiority as task-specific superiority: Composer 2 outperforms some frontier models on CursorBench, but that benchmark does not represent your specific hard debugging tasks — always calibrate on your workload</a:t>
            </a:r>
          </a:p>
        </p:txBody>
      </p:sp>
      <p:sp>
        <p:nvSpPr>
          <p:cNvPr id="12" name="TextBox 11"/>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0972800" cy="594360"/>
          </a:xfrm>
          <a:prstGeom prst="rect">
            <a:avLst/>
          </a:prstGeom>
          <a:noFill/>
        </p:spPr>
        <p:txBody>
          <a:bodyPr wrap="square">
            <a:spAutoFit/>
          </a:bodyPr>
          <a:lstStyle/>
          <a:p>
            <a:pPr algn="l"/>
            <a:r>
              <a:rPr sz="2600" b="1">
                <a:solidFill>
                  <a:srgbClr val="18181B"/>
                </a:solidFill>
              </a:rPr>
              <a:t>Chapter 1 — Key Takeaways</a:t>
            </a:r>
          </a:p>
        </p:txBody>
      </p:sp>
      <p:sp>
        <p:nvSpPr>
          <p:cNvPr id="5" name="Rectangle 4"/>
          <p:cNvSpPr/>
          <p:nvPr/>
        </p:nvSpPr>
        <p:spPr>
          <a:xfrm>
            <a:off x="457200" y="804672"/>
            <a:ext cx="11247120" cy="12700"/>
          </a:xfrm>
          <a:prstGeom prst="rect">
            <a:avLst/>
          </a:prstGeom>
          <a:solidFill>
            <a:srgbClr val="A1A1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24128"/>
            <a:ext cx="164592" cy="731520"/>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932688"/>
            <a:ext cx="10972800" cy="384048"/>
          </a:xfrm>
          <a:prstGeom prst="rect">
            <a:avLst/>
          </a:prstGeom>
          <a:noFill/>
        </p:spPr>
        <p:txBody>
          <a:bodyPr wrap="square">
            <a:spAutoFit/>
          </a:bodyPr>
          <a:lstStyle/>
          <a:p>
            <a:r>
              <a:rPr sz="1400" b="1">
                <a:solidFill>
                  <a:srgbClr val="18181B"/>
                </a:solidFill>
              </a:rPr>
              <a:t>Composer 2 = Kimi K2.5 + large-scale RL</a:t>
            </a:r>
          </a:p>
        </p:txBody>
      </p:sp>
      <p:sp>
        <p:nvSpPr>
          <p:cNvPr id="8" name="TextBox 7"/>
          <p:cNvSpPr txBox="1"/>
          <p:nvPr/>
        </p:nvSpPr>
        <p:spPr>
          <a:xfrm>
            <a:off x="749808" y="1298448"/>
            <a:ext cx="10972800" cy="502920"/>
          </a:xfrm>
          <a:prstGeom prst="rect">
            <a:avLst/>
          </a:prstGeom>
          <a:noFill/>
        </p:spPr>
        <p:txBody>
          <a:bodyPr wrap="square">
            <a:spAutoFit/>
          </a:bodyPr>
          <a:lstStyle/>
          <a:p>
            <a:r>
              <a:rPr sz="1100">
                <a:solidFill>
                  <a:srgbClr val="444444"/>
                </a:solidFill>
              </a:rPr>
              <a:t>Two-phase training for agentic IDE tasks; $0.50/M input changes iteration economics</a:t>
            </a:r>
          </a:p>
        </p:txBody>
      </p:sp>
      <p:sp>
        <p:nvSpPr>
          <p:cNvPr id="9" name="Rectangle 8"/>
          <p:cNvSpPr/>
          <p:nvPr/>
        </p:nvSpPr>
        <p:spPr>
          <a:xfrm>
            <a:off x="457200" y="2029968"/>
            <a:ext cx="164592" cy="73152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8528"/>
            <a:ext cx="10972800" cy="384048"/>
          </a:xfrm>
          <a:prstGeom prst="rect">
            <a:avLst/>
          </a:prstGeom>
          <a:noFill/>
        </p:spPr>
        <p:txBody>
          <a:bodyPr wrap="square">
            <a:spAutoFit/>
          </a:bodyPr>
          <a:lstStyle/>
          <a:p>
            <a:r>
              <a:rPr sz="1400" b="1">
                <a:solidFill>
                  <a:srgbClr val="18181B"/>
                </a:solidFill>
              </a:rPr>
              <a:t>Two-layer benchmark reading</a:t>
            </a:r>
          </a:p>
        </p:txBody>
      </p:sp>
      <p:sp>
        <p:nvSpPr>
          <p:cNvPr id="11" name="TextBox 10"/>
          <p:cNvSpPr txBox="1"/>
          <p:nvPr/>
        </p:nvSpPr>
        <p:spPr>
          <a:xfrm>
            <a:off x="749808" y="2304288"/>
            <a:ext cx="10972800" cy="502920"/>
          </a:xfrm>
          <a:prstGeom prst="rect">
            <a:avLst/>
          </a:prstGeom>
          <a:noFill/>
        </p:spPr>
        <p:txBody>
          <a:bodyPr wrap="square">
            <a:spAutoFit/>
          </a:bodyPr>
          <a:lstStyle/>
          <a:p>
            <a:r>
              <a:rPr sz="1100">
                <a:solidFill>
                  <a:srgbClr val="444444"/>
                </a:solidFill>
              </a:rPr>
              <a:t>Directional signal (rankings) + local task evals (your actual workload) — never one alone</a:t>
            </a:r>
          </a:p>
        </p:txBody>
      </p:sp>
      <p:sp>
        <p:nvSpPr>
          <p:cNvPr id="12" name="Rectangle 11"/>
          <p:cNvSpPr/>
          <p:nvPr/>
        </p:nvSpPr>
        <p:spPr>
          <a:xfrm>
            <a:off x="457200" y="3035808"/>
            <a:ext cx="164592" cy="7315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944368"/>
            <a:ext cx="10972800" cy="384048"/>
          </a:xfrm>
          <a:prstGeom prst="rect">
            <a:avLst/>
          </a:prstGeom>
          <a:noFill/>
        </p:spPr>
        <p:txBody>
          <a:bodyPr wrap="square">
            <a:spAutoFit/>
          </a:bodyPr>
          <a:lstStyle/>
          <a:p>
            <a:r>
              <a:rPr sz="1400" b="1">
                <a:solidFill>
                  <a:srgbClr val="18181B"/>
                </a:solidFill>
              </a:rPr>
              <a:t>Route by task class, not by preference</a:t>
            </a:r>
          </a:p>
        </p:txBody>
      </p:sp>
      <p:sp>
        <p:nvSpPr>
          <p:cNvPr id="14" name="TextBox 13"/>
          <p:cNvSpPr txBox="1"/>
          <p:nvPr/>
        </p:nvSpPr>
        <p:spPr>
          <a:xfrm>
            <a:off x="749808" y="3310128"/>
            <a:ext cx="10972800" cy="502920"/>
          </a:xfrm>
          <a:prstGeom prst="rect">
            <a:avLst/>
          </a:prstGeom>
          <a:noFill/>
        </p:spPr>
        <p:txBody>
          <a:bodyPr wrap="square">
            <a:spAutoFit/>
          </a:bodyPr>
          <a:lstStyle/>
          <a:p>
            <a:r>
              <a:rPr sz="1100">
                <a:solidFill>
                  <a:srgbClr val="444444"/>
                </a:solidFill>
              </a:rPr>
              <a:t>Composer 2 for iteration loops; frontier models for unfamiliar architecture and security-sensitive reasoning</a:t>
            </a:r>
          </a:p>
        </p:txBody>
      </p:sp>
      <p:sp>
        <p:nvSpPr>
          <p:cNvPr id="15" name="Rectangle 14"/>
          <p:cNvSpPr/>
          <p:nvPr/>
        </p:nvSpPr>
        <p:spPr>
          <a:xfrm>
            <a:off x="457200" y="4041648"/>
            <a:ext cx="164592" cy="7315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950208"/>
            <a:ext cx="10972800" cy="384048"/>
          </a:xfrm>
          <a:prstGeom prst="rect">
            <a:avLst/>
          </a:prstGeom>
          <a:noFill/>
        </p:spPr>
        <p:txBody>
          <a:bodyPr wrap="square">
            <a:spAutoFit/>
          </a:bodyPr>
          <a:lstStyle/>
          <a:p>
            <a:r>
              <a:rPr sz="1400" b="1">
                <a:solidFill>
                  <a:srgbClr val="18181B"/>
                </a:solidFill>
              </a:rPr>
              <a:t>.cursorrules = constraint-based, not style-based</a:t>
            </a:r>
          </a:p>
        </p:txBody>
      </p:sp>
      <p:sp>
        <p:nvSpPr>
          <p:cNvPr id="17" name="TextBox 16"/>
          <p:cNvSpPr txBox="1"/>
          <p:nvPr/>
        </p:nvSpPr>
        <p:spPr>
          <a:xfrm>
            <a:off x="749808" y="4315968"/>
            <a:ext cx="10972800" cy="502920"/>
          </a:xfrm>
          <a:prstGeom prst="rect">
            <a:avLst/>
          </a:prstGeom>
          <a:noFill/>
        </p:spPr>
        <p:txBody>
          <a:bodyPr wrap="square">
            <a:spAutoFit/>
          </a:bodyPr>
          <a:lstStyle/>
          <a:p>
            <a:r>
              <a:rPr sz="1100">
                <a:solidFill>
                  <a:srgbClr val="444444"/>
                </a:solidFill>
              </a:rPr>
              <a:t>Verifiable rules outperform vague guidelines; forbidden patterns section is as important as standards</a:t>
            </a:r>
          </a:p>
        </p:txBody>
      </p:sp>
      <p:sp>
        <p:nvSpPr>
          <p:cNvPr id="18" name="Rectangle 17"/>
          <p:cNvSpPr/>
          <p:nvPr/>
        </p:nvSpPr>
        <p:spPr>
          <a:xfrm>
            <a:off x="457200" y="5047488"/>
            <a:ext cx="164592" cy="73152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956048"/>
            <a:ext cx="10972800" cy="384048"/>
          </a:xfrm>
          <a:prstGeom prst="rect">
            <a:avLst/>
          </a:prstGeom>
          <a:noFill/>
        </p:spPr>
        <p:txBody>
          <a:bodyPr wrap="square">
            <a:spAutoFit/>
          </a:bodyPr>
          <a:lstStyle/>
          <a:p>
            <a:r>
              <a:rPr sz="1400" b="1">
                <a:solidFill>
                  <a:srgbClr val="18181B"/>
                </a:solidFill>
              </a:rPr>
              <a:t>AGENTS.md grounds every agent session</a:t>
            </a:r>
          </a:p>
        </p:txBody>
      </p:sp>
      <p:sp>
        <p:nvSpPr>
          <p:cNvPr id="20" name="TextBox 19"/>
          <p:cNvSpPr txBox="1"/>
          <p:nvPr/>
        </p:nvSpPr>
        <p:spPr>
          <a:xfrm>
            <a:off x="749808" y="5321808"/>
            <a:ext cx="10972800" cy="502920"/>
          </a:xfrm>
          <a:prstGeom prst="rect">
            <a:avLst/>
          </a:prstGeom>
          <a:noFill/>
        </p:spPr>
        <p:txBody>
          <a:bodyPr wrap="square">
            <a:spAutoFit/>
          </a:bodyPr>
          <a:lstStyle/>
          <a:p>
            <a:r>
              <a:rPr sz="1100">
                <a:solidFill>
                  <a:srgbClr val="444444"/>
                </a:solidFill>
              </a:rPr>
              <a:t>Project context + escalation rules are the difference between safe and unsafe Background Agent runs</a:t>
            </a:r>
          </a:p>
        </p:txBody>
      </p:sp>
      <p:sp>
        <p:nvSpPr>
          <p:cNvPr id="21" name="TextBox 20"/>
          <p:cNvSpPr txBox="1"/>
          <p:nvPr/>
        </p:nvSpPr>
        <p:spPr>
          <a:xfrm>
            <a:off x="457200" y="6510528"/>
            <a:ext cx="1097280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818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4062984" cy="64008"/>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062984" y="6793992"/>
            <a:ext cx="4062984" cy="64008"/>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5968" y="6793992"/>
            <a:ext cx="4062984"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63040"/>
            <a:ext cx="10332720" cy="457200"/>
          </a:xfrm>
          <a:prstGeom prst="rect">
            <a:avLst/>
          </a:prstGeom>
          <a:noFill/>
        </p:spPr>
        <p:txBody>
          <a:bodyPr wrap="square">
            <a:spAutoFit/>
          </a:bodyPr>
          <a:lstStyle/>
          <a:p>
            <a:pPr algn="ctr"/>
            <a:r>
              <a:rPr sz="1800" b="1">
                <a:solidFill>
                  <a:srgbClr val="8B5CF6"/>
                </a:solidFill>
              </a:rPr>
              <a:t>Up Next</a:t>
            </a:r>
          </a:p>
        </p:txBody>
      </p:sp>
      <p:sp>
        <p:nvSpPr>
          <p:cNvPr id="7" name="TextBox 6"/>
          <p:cNvSpPr txBox="1"/>
          <p:nvPr/>
        </p:nvSpPr>
        <p:spPr>
          <a:xfrm>
            <a:off x="914400" y="2011680"/>
            <a:ext cx="10332720" cy="1280160"/>
          </a:xfrm>
          <a:prstGeom prst="rect">
            <a:avLst/>
          </a:prstGeom>
          <a:noFill/>
        </p:spPr>
        <p:txBody>
          <a:bodyPr wrap="square">
            <a:spAutoFit/>
          </a:bodyPr>
          <a:lstStyle/>
          <a:p>
            <a:pPr algn="ctr"/>
            <a:r>
              <a:rPr sz="3400" b="1">
                <a:solidFill>
                  <a:srgbClr val="FFFFFF"/>
                </a:solidFill>
              </a:rPr>
              <a:t>Chapter 2: Mastering the Cursor Composer Interface</a:t>
            </a:r>
          </a:p>
        </p:txBody>
      </p:sp>
      <p:sp>
        <p:nvSpPr>
          <p:cNvPr id="8" name="TextBox 7"/>
          <p:cNvSpPr txBox="1"/>
          <p:nvPr/>
        </p:nvSpPr>
        <p:spPr>
          <a:xfrm>
            <a:off x="1371600" y="3474720"/>
            <a:ext cx="9418320" cy="822960"/>
          </a:xfrm>
          <a:prstGeom prst="rect">
            <a:avLst/>
          </a:prstGeom>
          <a:noFill/>
        </p:spPr>
        <p:txBody>
          <a:bodyPr wrap="square">
            <a:spAutoFit/>
          </a:bodyPr>
          <a:lstStyle/>
          <a:p>
            <a:pPr algn="ctr"/>
            <a:r>
              <a:rPr sz="1500" b="0">
                <a:solidFill>
                  <a:srgbClr val="A1A1AA"/>
                </a:solidFill>
              </a:rPr>
              <a:t>Context window management as projects grow  ·  @file and @symbol reference precision  ·  Structuring multi-turn sessions that don't degrade</a:t>
            </a:r>
          </a:p>
        </p:txBody>
      </p:sp>
      <p:sp>
        <p:nvSpPr>
          <p:cNvPr id="9" name="TextBox 8"/>
          <p:cNvSpPr txBox="1"/>
          <p:nvPr/>
        </p:nvSpPr>
        <p:spPr>
          <a:xfrm>
            <a:off x="1828800" y="4572000"/>
            <a:ext cx="8503920" cy="640080"/>
          </a:xfrm>
          <a:prstGeom prst="rect">
            <a:avLst/>
          </a:prstGeom>
          <a:noFill/>
        </p:spPr>
        <p:txBody>
          <a:bodyPr wrap="square">
            <a:spAutoFit/>
          </a:bodyPr>
          <a:lstStyle/>
          <a:p>
            <a:pPr algn="ctr"/>
            <a:r>
              <a:rPr sz="1200" b="0">
                <a:solidFill>
                  <a:srgbClr val="A1A1AA"/>
                </a:solidFill>
              </a:rPr>
              <a:t>Prerequisite: complete the hands-on exercise from Chapter 1 — .cursorrules and AGENTS.md must be committed before Chapter 2 workflows will work reliably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