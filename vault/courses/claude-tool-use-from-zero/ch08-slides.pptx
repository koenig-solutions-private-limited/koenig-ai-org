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069848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Legal and Regulatory Connectors in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29968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0">
                <a:solidFill>
                  <a:srgbClr val="A1A1AA"/>
                </a:solidFill>
                <a:latin typeface="Arial"/>
              </a:rPr>
              <a:t>Chapter 8 · Claude Tool Use from Zero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880360"/>
            <a:ext cx="102412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2300">
                <a:solidFill>
                  <a:srgbClr val="D4D4D8"/>
                </a:solidFill>
                <a:latin typeface="Arial"/>
              </a:defRPr>
            </a:pPr>
            <a:r>
              <a:t>Handle legal documents with confidentiality, auditability, and data residency constraints</a:t>
            </a:r>
          </a:p>
          <a:p>
            <a:pPr>
              <a:spcAft>
                <a:spcPts val="1300"/>
              </a:spcAft>
              <a:defRPr sz="2500">
                <a:solidFill>
                  <a:srgbClr val="D4D4D8"/>
                </a:solidFill>
                <a:latin typeface="Arial"/>
              </a:defRPr>
            </a:pPr>
            <a:r>
              <a:t>Build compliance-first tool definitions for legal practice management systems</a:t>
            </a:r>
          </a:p>
          <a:p>
            <a:pPr>
              <a:spcAft>
                <a:spcPts val="1300"/>
              </a:spcAft>
              <a:defRPr sz="2500">
                <a:solidFill>
                  <a:srgbClr val="D4D4D8"/>
                </a:solidFill>
                <a:latin typeface="Arial"/>
              </a:defRPr>
            </a:pPr>
            <a:r>
              <a:t>Use deterministic local redaction before analysis workflows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A1A1AA"/>
                </a:solidFill>
                <a:latin typeface="Arial"/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Why LegalTech Raises the Stakes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965960"/>
            <a:ext cx="102412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2500">
                <a:solidFill>
                  <a:srgbClr val="D4D4D8"/>
                </a:solidFill>
                <a:latin typeface="Arial"/>
              </a:defRPr>
            </a:pPr>
            <a:r>
              <a:t>Legal connectors interact with sensitive case data and privileged documents</a:t>
            </a:r>
          </a:p>
          <a:p>
            <a:pPr>
              <a:spcAft>
                <a:spcPts val="1300"/>
              </a:spcAft>
              <a:defRPr sz="2300">
                <a:solidFill>
                  <a:srgbClr val="D4D4D8"/>
                </a:solidFill>
                <a:latin typeface="Arial"/>
              </a:defRPr>
            </a:pPr>
            <a:r>
              <a:t>Attorney-client privilege and jurisdictional rules supersede standard tool-use patterns</a:t>
            </a:r>
          </a:p>
          <a:p>
            <a:pPr>
              <a:spcAft>
                <a:spcPts val="1300"/>
              </a:spcAft>
              <a:defRPr sz="2300">
                <a:solidFill>
                  <a:srgbClr val="D4D4D8"/>
                </a:solidFill>
                <a:latin typeface="Arial"/>
              </a:defRPr>
            </a:pPr>
            <a:r>
              <a:t>A visual glitch may be tolerable in creative workflows; leakage in legal workflows is not</a:t>
            </a:r>
          </a:p>
          <a:p>
            <a:pPr>
              <a:spcAft>
                <a:spcPts val="1300"/>
              </a:spcAft>
              <a:defRPr sz="2500">
                <a:solidFill>
                  <a:srgbClr val="D4D4D8"/>
                </a:solidFill>
                <a:latin typeface="Arial"/>
              </a:defRPr>
            </a:pPr>
            <a:r>
              <a:t>The secure boundary must be explicit before Claude receives analysis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A1A1AA"/>
                </a:solidFill>
                <a:latin typeface="Arial"/>
              </a:rPr>
              <a:t>academy.kspl.tech | Koenig AI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6199632"/>
            <a:ext cx="685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A1A1AA"/>
                </a:solidFill>
                <a:latin typeface="Arial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Regulatory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965960"/>
            <a:ext cx="102412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2500">
                <a:solidFill>
                  <a:srgbClr val="D4D4D8"/>
                </a:solidFill>
                <a:latin typeface="Arial"/>
              </a:defRPr>
            </a:pPr>
            <a:r>
              <a:t>Confidentiality: redact PII before it leaves the local secure environment</a:t>
            </a:r>
          </a:p>
          <a:p>
            <a:pPr>
              <a:spcAft>
                <a:spcPts val="1300"/>
              </a:spcAft>
              <a:defRPr sz="2500">
                <a:solidFill>
                  <a:srgbClr val="D4D4D8"/>
                </a:solidFill>
                <a:latin typeface="Arial"/>
              </a:defRPr>
            </a:pPr>
            <a:r>
              <a:t>Audit trails: log every tool call in read-only, tamper-proof form</a:t>
            </a:r>
          </a:p>
          <a:p>
            <a:pPr>
              <a:spcAft>
                <a:spcPts val="1300"/>
              </a:spcAft>
              <a:defRPr sz="2500">
                <a:solidFill>
                  <a:srgbClr val="D4D4D8"/>
                </a:solidFill>
                <a:latin typeface="Arial"/>
              </a:defRPr>
            </a:pPr>
            <a:r>
              <a:t>Data residency: deploy MCP server infrastructure inside the required jurisdiction</a:t>
            </a:r>
          </a:p>
          <a:p>
            <a:pPr>
              <a:spcAft>
                <a:spcPts val="1300"/>
              </a:spcAft>
              <a:defRPr sz="2500">
                <a:solidFill>
                  <a:srgbClr val="D4D4D8"/>
                </a:solidFill>
                <a:latin typeface="Arial"/>
              </a:defRPr>
            </a:pPr>
            <a:r>
              <a:t>Audit logs should record access events, not raw document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A1A1AA"/>
                </a:solidFill>
                <a:latin typeface="Arial"/>
              </a:rPr>
              <a:t>academy.kspl.tech | Koenig AI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6199632"/>
            <a:ext cx="685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A1A1AA"/>
                </a:solidFill>
                <a:latin typeface="Arial"/>
              </a:rPr>
              <a:t>3/7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544068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ACC15"/>
                </a:solidFill>
                <a:latin typeface="Arial"/>
              </a:rPr>
              <a:t>Never log raw PII: record that a file was accessed, not its contents.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Compliance-First Tool Definitions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965960"/>
            <a:ext cx="102412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2500">
                <a:solidFill>
                  <a:srgbClr val="D4D4D8"/>
                </a:solidFill>
                <a:latin typeface="Arial"/>
              </a:defRPr>
            </a:pPr>
            <a:r>
              <a:t>Tool descriptions must state data bounds and local execution requirements</a:t>
            </a:r>
          </a:p>
          <a:p>
            <a:pPr>
              <a:spcAft>
                <a:spcPts val="1300"/>
              </a:spcAft>
              <a:defRPr sz="2500">
                <a:solidFill>
                  <a:srgbClr val="D4D4D8"/>
                </a:solidFill>
                <a:latin typeface="Arial"/>
              </a:defRPr>
            </a:pPr>
            <a:r>
              <a:t>Redaction tools should behave deterministically rather than creatively</a:t>
            </a:r>
          </a:p>
          <a:p>
            <a:pPr>
              <a:spcAft>
                <a:spcPts val="1300"/>
              </a:spcAft>
              <a:defRPr sz="2500">
                <a:solidFill>
                  <a:srgbClr val="D4D4D8"/>
                </a:solidFill>
                <a:latin typeface="Arial"/>
              </a:defRPr>
            </a:pPr>
            <a:r>
              <a:t>Access tools need fine-grained authorization around document paths and PII types</a:t>
            </a:r>
          </a:p>
          <a:p>
            <a:pPr>
              <a:spcAft>
                <a:spcPts val="1300"/>
              </a:spcAft>
              <a:defRPr sz="2500">
                <a:solidFill>
                  <a:srgbClr val="D4D4D8"/>
                </a:solidFill>
                <a:latin typeface="Arial"/>
              </a:defRPr>
            </a:pPr>
            <a:r>
              <a:t>Input schemas should make required fields and permitted PII categories explicit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A1A1AA"/>
                </a:solidFill>
                <a:latin typeface="Arial"/>
              </a:rPr>
              <a:t>academy.kspl.tech | Koenig AI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6199632"/>
            <a:ext cx="685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A1A1AA"/>
                </a:solidFill>
                <a:latin typeface="Arial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Secure Redaction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965960"/>
            <a:ext cx="102412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2500">
                <a:solidFill>
                  <a:srgbClr val="D4D4D8"/>
                </a:solidFill>
                <a:latin typeface="Arial"/>
              </a:defRPr>
            </a:pPr>
            <a:r>
              <a:t>Start with an access-intent audit entry before touching the document</a:t>
            </a:r>
          </a:p>
          <a:p>
            <a:pPr>
              <a:spcAft>
                <a:spcPts val="1300"/>
              </a:spcAft>
              <a:defRPr sz="2500">
                <a:solidFill>
                  <a:srgbClr val="D4D4D8"/>
                </a:solidFill>
                <a:latin typeface="Arial"/>
              </a:defRPr>
            </a:pPr>
            <a:r>
              <a:t>Run redaction locally and return a redacted document path</a:t>
            </a:r>
          </a:p>
          <a:p>
            <a:pPr>
              <a:spcAft>
                <a:spcPts val="1300"/>
              </a:spcAft>
              <a:defRPr sz="2500">
                <a:solidFill>
                  <a:srgbClr val="D4D4D8"/>
                </a:solidFill>
                <a:latin typeface="Arial"/>
              </a:defRPr>
            </a:pPr>
            <a:r>
              <a:t>Avoid logging raw PII even when the audit log is secure</a:t>
            </a:r>
          </a:p>
          <a:p>
            <a:pPr>
              <a:spcAft>
                <a:spcPts val="1300"/>
              </a:spcAft>
              <a:defRPr sz="2500">
                <a:solidFill>
                  <a:srgbClr val="D4D4D8"/>
                </a:solidFill>
                <a:latin typeface="Arial"/>
              </a:defRPr>
            </a:pPr>
            <a:r>
              <a:t>Verify the file output before and after the redaction service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A1A1AA"/>
                </a:solidFill>
                <a:latin typeface="Arial"/>
              </a:rPr>
              <a:t>academy.kspl.tech | Koenig AI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6199632"/>
            <a:ext cx="685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A1A1AA"/>
                </a:solidFill>
                <a:latin typeface="Arial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Hands-On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965960"/>
            <a:ext cx="102412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2500">
                <a:solidFill>
                  <a:srgbClr val="D4D4D8"/>
                </a:solidFill>
                <a:latin typeface="Arial"/>
              </a:defRPr>
            </a:pPr>
            <a:r>
              <a:t>Define a document redaction tool with a document path and PII type list</a:t>
            </a:r>
          </a:p>
          <a:p>
            <a:pPr>
              <a:spcAft>
                <a:spcPts val="1300"/>
              </a:spcAft>
              <a:defRPr sz="2500">
                <a:solidFill>
                  <a:srgbClr val="D4D4D8"/>
                </a:solidFill>
                <a:latin typeface="Arial"/>
              </a:defRPr>
            </a:pPr>
            <a:r>
              <a:t>Implement a mock regex redaction service for SSNs and names</a:t>
            </a:r>
          </a:p>
          <a:p>
            <a:pPr>
              <a:spcAft>
                <a:spcPts val="1300"/>
              </a:spcAft>
              <a:defRPr sz="2500">
                <a:solidFill>
                  <a:srgbClr val="D4D4D8"/>
                </a:solidFill>
                <a:latin typeface="Arial"/>
              </a:defRPr>
            </a:pPr>
            <a:r>
              <a:t>Inspect the before-and-after file output for redaction correctness</a:t>
            </a:r>
          </a:p>
          <a:p>
            <a:pPr>
              <a:spcAft>
                <a:spcPts val="1300"/>
              </a:spcAft>
              <a:defRPr sz="2500">
                <a:solidFill>
                  <a:srgbClr val="D4D4D8"/>
                </a:solidFill>
                <a:latin typeface="Arial"/>
              </a:defRPr>
            </a:pPr>
            <a:r>
              <a:t>Explain how the audit log remains tamper-proof without storing sensitive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A1A1AA"/>
                </a:solidFill>
                <a:latin typeface="Arial"/>
              </a:rPr>
              <a:t>academy.kspl.tech | Koenig AI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6199632"/>
            <a:ext cx="685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A1A1AA"/>
                </a:solidFill>
                <a:latin typeface="Arial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Try it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965960"/>
            <a:ext cx="102412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2500">
                <a:solidFill>
                  <a:srgbClr val="D4D4D8"/>
                </a:solidFill>
                <a:latin typeface="Arial"/>
              </a:defRPr>
            </a:pPr>
            <a:r>
              <a:t>Apply the same secure-boundary pattern to the capstone connector project</a:t>
            </a:r>
          </a:p>
          <a:p>
            <a:pPr>
              <a:spcAft>
                <a:spcPts val="1300"/>
              </a:spcAft>
              <a:defRPr sz="2500">
                <a:solidFill>
                  <a:srgbClr val="D4D4D8"/>
                </a:solidFill>
                <a:latin typeface="Arial"/>
              </a:defRPr>
            </a:pPr>
            <a:r>
              <a:t>Combine redaction, authorization, residency, and audit logs before model analysis</a:t>
            </a:r>
          </a:p>
          <a:p>
            <a:pPr>
              <a:spcAft>
                <a:spcPts val="1300"/>
              </a:spcAft>
              <a:defRPr sz="2500">
                <a:solidFill>
                  <a:srgbClr val="D4D4D8"/>
                </a:solidFill>
                <a:latin typeface="Arial"/>
              </a:defRPr>
            </a:pPr>
            <a:r>
              <a:t>Treat compliance as part of the tool contract, not an after-the-fact review</a:t>
            </a:r>
          </a:p>
          <a:p>
            <a:pPr>
              <a:spcAft>
                <a:spcPts val="1300"/>
              </a:spcAft>
              <a:defRPr sz="2500">
                <a:solidFill>
                  <a:srgbClr val="D4D4D8"/>
                </a:solidFill>
                <a:latin typeface="Arial"/>
              </a:defRPr>
            </a:pPr>
            <a:r>
              <a:t>Next: build production-grade agentic connectors from these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A1A1AA"/>
                </a:solidFill>
                <a:latin typeface="Arial"/>
              </a:rPr>
              <a:t>academy.kspl.tech | Koenig AI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6199632"/>
            <a:ext cx="685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A1A1AA"/>
                </a:solidFill>
                <a:latin typeface="Arial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